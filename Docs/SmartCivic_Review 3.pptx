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66" r:id="rId3"/>
    <p:sldId id="278" r:id="rId4"/>
    <p:sldId id="272" r:id="rId5"/>
    <p:sldId id="270" r:id="rId6"/>
    <p:sldId id="274" r:id="rId7"/>
    <p:sldId id="275" r:id="rId8"/>
    <p:sldId id="277" r:id="rId9"/>
    <p:sldId id="276" r:id="rId10"/>
  </p:sldIdLst>
  <p:sldSz cx="12192000" cy="6858000"/>
  <p:notesSz cx="12192000" cy="6858000"/>
  <p:embeddedFontLst>
    <p:embeddedFont>
      <p:font typeface="Bookman Old Style" panose="02050604050505020204" pitchFamily="18" charset="0"/>
      <p:regular r:id="rId12"/>
      <p:bold r:id="rId13"/>
      <p:italic r:id="rId14"/>
      <p:boldItalic r:id="rId15"/>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51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pPr/>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pPr/>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dirty="0"/>
              <a:t>Click to edit Master title style</a:t>
            </a:r>
          </a:p>
        </p:txBody>
      </p:sp>
      <p:sp>
        <p:nvSpPr>
          <p:cNvPr id="3" name="Subtitle 2">
            <a:extLst>
              <a:ext uri="{32171CF1-2CD1-4848-A55A-5A508E25A32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dirty="0"/>
              <a:t>Click to edit Master subtitle style</a:t>
            </a:r>
          </a:p>
        </p:txBody>
      </p:sp>
      <p:pic>
        <p:nvPicPr>
          <p:cNvPr id="4" name="Picture 3">
            <a:extLst>
              <a:ext uri="{C1EB77FD-C848-422B-B273-451CDA41F4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19EC38CB-622C-4106-803A-85E3D5477226}"/>
              </a:ext>
            </a:extLst>
          </p:cNvPr>
          <p:cNvSpPr>
            <a:spLocks noGrp="1"/>
          </p:cNvSpPr>
          <p:nvPr>
            <p:ph type="ftr" sz="quarter" idx="11"/>
          </p:nvPr>
        </p:nvSpPr>
        <p:spPr/>
        <p:txBody>
          <a:bodyPr rtlCol="0"/>
          <a:lstStyle>
            <a:lvl1pPr lvl="0"/>
          </a:lstStyle>
          <a:p>
            <a:r>
              <a:rPr lang="en-US" dirty="0"/>
              <a:t>Footer</a:t>
            </a:r>
          </a:p>
        </p:txBody>
      </p:sp>
      <p:sp>
        <p:nvSpPr>
          <p:cNvPr id="6" name="Slide Number Placeholder 5">
            <a:extLst>
              <a:ext uri="{30F4214F-3E4E-4B8B-8AC2-BF59D50B2CD1}">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25D679E-58E0-45F1-BEFC-163C6EEC181D}"/>
              </a:ext>
            </a:extLst>
          </p:cNvPr>
          <p:cNvSpPr>
            <a:spLocks noGrp="1"/>
          </p:cNvSpPr>
          <p:nvPr>
            <p:ph type="sldNum" sz="quarter" idx="12"/>
          </p:nvPr>
        </p:nvSpPr>
        <p:spPr/>
        <p:txBody>
          <a:bodyPr rtlCol="0"/>
          <a:lstStyle>
            <a:lvl1pPr lvl="0"/>
          </a:lstStyle>
          <a:p>
            <a:r>
              <a:rPr lang="en-US" dirty="0"/>
              <a:t>&lt;#&gt;</a:t>
            </a:r>
          </a:p>
        </p:txBody>
      </p:sp>
      <p:sp>
        <p:nvSpPr>
          <p:cNvPr id="7" name="Date Placeholder 3">
            <a:extLst>
              <a:ext uri="{02364871-6258-47BB-A41D-1E9BEBD3EA96}">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E775BF1-9C64-4531-A7E2-730347FD3CA5}"/>
              </a:ext>
            </a:extLst>
          </p:cNvPr>
          <p:cNvSpPr>
            <a:spLocks noGrp="1"/>
          </p:cNvSpPr>
          <p:nvPr>
            <p:ph type="dt" sz="half" idx="10"/>
          </p:nvPr>
        </p:nvSpPr>
        <p:spPr/>
        <p:txBody>
          <a:bodyPr rtlCol="0"/>
          <a:lstStyle>
            <a:lvl1pPr lvl="0"/>
          </a:lstStyle>
          <a:p>
            <a:r>
              <a:rPr lang="en-US" dirty="0"/>
              <a:t>Date</a:t>
            </a:r>
          </a:p>
        </p:txBody>
      </p:sp>
    </p:spTree>
    <p:extLst>
      <p:ext uri="{7D129387-9967-4C73-939D-69EF041DFD9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dirty="0"/>
              <a:t>Click to edit Master text styles</a:t>
            </a:r>
          </a:p>
        </p:txBody>
      </p:sp>
      <p:sp>
        <p:nvSpPr>
          <p:cNvPr id="3" name="Date Placeholder 2">
            <a:extLst>
              <a:ext uri="{C7EE3D1E-6A2F-4B40-9445-6784FC740ACE}">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pPr/>
              <a:t>6/23/2026</a:t>
            </a:fld>
            <a:endParaRPr lang="en-US" dirty="0"/>
          </a:p>
        </p:txBody>
      </p:sp>
      <p:sp>
        <p:nvSpPr>
          <p:cNvPr id="4" name="Footer Placeholder 3">
            <a:extLst>
              <a:ext uri="{E2B100E3-D1A2-4814-971B-1F28BC986B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dirty="0"/>
              <a:t>DL&amp;CO                                                                G.LAVARAJU, Associate Professor, CSE</a:t>
            </a:r>
          </a:p>
        </p:txBody>
      </p:sp>
      <p:pic>
        <p:nvPicPr>
          <p:cNvPr id="5" name="Picture 2">
            <a:extLst>
              <a:ext uri="{DAD87817-DB1B-4DE8-BD41-41BB3E99A74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rPr/>
              <a:pPr/>
              <a:t>‹#›</a:t>
            </a:fld>
            <a:endParaRPr lang="en-US" dirty="0"/>
          </a:p>
        </p:txBody>
      </p:sp>
    </p:spTree>
    <p:extLst>
      <p:ext uri="{E791D5F0-FCE4-45B8-828D-F7D7E855498A}">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B13D2877-58CC-4844-975B-B8D6496C43E9}" type="datetime1">
              <a:rPr lang="en-US"/>
              <a:pPr/>
              <a:t>6/23/2026</a:t>
            </a:fld>
            <a:endParaRPr lang="en-US" dirty="0"/>
          </a:p>
        </p:txBody>
      </p:sp>
      <p:sp>
        <p:nvSpPr>
          <p:cNvPr id="4" name="Footer Placeholder 3">
            <a:extLst>
              <a:ext uri="{7A687B93-B742-4FC6-AC3F-36C63D4DF72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dirty="0"/>
              <a:t>DL&amp;CO                                                                G.LAVARAJU, Associate Professor, CSE</a:t>
            </a:r>
          </a:p>
        </p:txBody>
      </p:sp>
      <p:sp>
        <p:nvSpPr>
          <p:cNvPr id="5" name="Slide Number Placeholder 3">
            <a:extLst>
              <a:ext uri="{A59E037D-D639-4F65-9477-94A0EBCDC4E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rPr/>
              <a:pPr/>
              <a:t>‹#›</a:t>
            </a:fld>
            <a:endParaRPr lang="en-US" dirty="0"/>
          </a:p>
        </p:txBody>
      </p:sp>
    </p:spTree>
    <p:extLst>
      <p:ext uri="{917857EF-1D39-4225-A829-037EB1D27937}">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76CEBE57-5AC2-4233-9D99-CAE469A4C85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5757E326-5F3E-43A1-830E-27FE2CE96B3D}">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A0623D07-B41D-4865-9117-A59235B241FC}" type="datetime1">
              <a:rPr lang="en-US"/>
              <a:pPr/>
              <a:t>6/23/2026</a:t>
            </a:fld>
            <a:endParaRPr lang="en-US" dirty="0"/>
          </a:p>
        </p:txBody>
      </p:sp>
      <p:sp>
        <p:nvSpPr>
          <p:cNvPr id="5" name="Footer Placeholder 4">
            <a:extLst>
              <a:ext uri="{71906065-35B4-4935-A9D1-FD668DE1E598}">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dirty="0"/>
              <a:t>DL&amp;CO                                                                G.LAVARAJU, Associate Professor, CSE</a:t>
            </a:r>
          </a:p>
        </p:txBody>
      </p:sp>
      <p:sp>
        <p:nvSpPr>
          <p:cNvPr id="6" name="Slide Number Placeholder 5">
            <a:extLst>
              <a:ext uri="{35F2950A-B1CB-4727-AB58-367C2C82CEAF}">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2" name="Title 1">
            <a:extLst>
              <a:ext uri="{5173A155-D39B-4A4B-8D04-AEDF7C74512A}">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25635022-F8A5-4229-B18F-290C3D3C64FB}"/>
              </a:ext>
            </a:extLst>
          </p:cNvPr>
          <p:cNvSpPr txBox="1"/>
          <p:nvPr/>
        </p:nvSpPr>
        <p:spPr>
          <a:xfrm>
            <a:off x="1055440" y="1700808"/>
            <a:ext cx="10696612" cy="1944216"/>
          </a:xfrm>
          <a:prstGeom prst="rect">
            <a:avLst/>
          </a:prstGeom>
        </p:spPr>
        <p:txBody>
          <a:bodyPr vert="horz" lIns="91440" tIns="45720" rIns="91440" bIns="45720" rtlCol="0" anchor="b">
            <a:noAutofit/>
          </a:bodyPr>
          <a:lstStyle/>
          <a:p>
            <a:pPr lvl="0" algn="ctr">
              <a:lnSpc>
                <a:spcPct val="90000"/>
              </a:lnSpc>
              <a:spcBef>
                <a:spcPct val="0"/>
              </a:spcBef>
            </a:pPr>
            <a:endParaRPr lang="en-US" sz="4000" dirty="0">
              <a:solidFill>
                <a:srgbClr val="00B050"/>
              </a:solidFill>
              <a:latin typeface="Bookman Old Style" pitchFamily="18" charset="0"/>
            </a:endParaRPr>
          </a:p>
        </p:txBody>
      </p:sp>
      <p:sp>
        <p:nvSpPr>
          <p:cNvPr id="3" name="Title 1">
            <a:extLst>
              <a:ext uri="{64856C8F-7DB4-4507-9010-97CF4AE55C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140DA9-F832-465D-86DE-FEB6803F3756}"/>
              </a:ext>
            </a:extLst>
          </p:cNvPr>
          <p:cNvSpPr txBox="1"/>
          <p:nvPr/>
        </p:nvSpPr>
        <p:spPr>
          <a:xfrm>
            <a:off x="1490308" y="1433299"/>
            <a:ext cx="10696612" cy="1143000"/>
          </a:xfrm>
          <a:prstGeom prst="rect">
            <a:avLst/>
          </a:prstGeom>
        </p:spPr>
        <p:txBody>
          <a:bodyPr vert="horz" lIns="91440" tIns="45720" rIns="91440" bIns="45720" rtlCol="0" anchor="b">
            <a:noAutofit/>
          </a:bodyPr>
          <a:lstStyle/>
          <a:p>
            <a:pPr lvl="0" algn="ctr">
              <a:lnSpc>
                <a:spcPct val="90000"/>
              </a:lnSpc>
              <a:spcBef>
                <a:spcPct val="0"/>
              </a:spcBef>
            </a:pPr>
            <a:r>
              <a:rPr lang="en-GB" sz="3200" dirty="0">
                <a:solidFill>
                  <a:srgbClr val="0070C0"/>
                </a:solidFill>
                <a:latin typeface="Bookman Old Style" pitchFamily="18" charset="0"/>
                <a:ea typeface="ADLaM Display" panose="02010000000000000000" pitchFamily="2" charset="0"/>
                <a:cs typeface="ADLaM Display" panose="02010000000000000000" pitchFamily="2" charset="0"/>
              </a:rPr>
              <a:t>In-House Internship 2.0 </a:t>
            </a:r>
          </a:p>
          <a:p>
            <a:pPr lvl="0" algn="ctr">
              <a:lnSpc>
                <a:spcPct val="90000"/>
              </a:lnSpc>
              <a:spcBef>
                <a:spcPct val="0"/>
              </a:spcBef>
            </a:pPr>
            <a:r>
              <a:rPr lang="en-GB" sz="3200" dirty="0">
                <a:solidFill>
                  <a:srgbClr val="0070C0"/>
                </a:solidFill>
                <a:latin typeface="Bookman Old Style" pitchFamily="18" charset="0"/>
                <a:ea typeface="ADLaM Display" panose="02010000000000000000" pitchFamily="2" charset="0"/>
                <a:cs typeface="ADLaM Display" panose="02010000000000000000" pitchFamily="2" charset="0"/>
              </a:rPr>
              <a:t>(04</a:t>
            </a:r>
            <a:r>
              <a:rPr lang="en-GB" sz="3200" baseline="30000" dirty="0">
                <a:solidFill>
                  <a:srgbClr val="0070C0"/>
                </a:solidFill>
                <a:latin typeface="Bookman Old Style" pitchFamily="18" charset="0"/>
                <a:ea typeface="ADLaM Display" panose="02010000000000000000" pitchFamily="2" charset="0"/>
                <a:cs typeface="ADLaM Display" panose="02010000000000000000" pitchFamily="2" charset="0"/>
              </a:rPr>
              <a:t>th</a:t>
            </a:r>
            <a:r>
              <a:rPr lang="en-GB" sz="3200" dirty="0">
                <a:solidFill>
                  <a:srgbClr val="0070C0"/>
                </a:solidFill>
                <a:latin typeface="Bookman Old Style" pitchFamily="18" charset="0"/>
                <a:ea typeface="ADLaM Display" panose="02010000000000000000" pitchFamily="2" charset="0"/>
                <a:cs typeface="ADLaM Display" panose="02010000000000000000" pitchFamily="2" charset="0"/>
              </a:rPr>
              <a:t> May – 25</a:t>
            </a:r>
            <a:r>
              <a:rPr lang="en-GB" sz="3200" baseline="30000" dirty="0">
                <a:solidFill>
                  <a:srgbClr val="0070C0"/>
                </a:solidFill>
                <a:latin typeface="Bookman Old Style" pitchFamily="18" charset="0"/>
                <a:ea typeface="ADLaM Display" panose="02010000000000000000" pitchFamily="2" charset="0"/>
                <a:cs typeface="ADLaM Display" panose="02010000000000000000" pitchFamily="2" charset="0"/>
              </a:rPr>
              <a:t>th</a:t>
            </a:r>
            <a:r>
              <a:rPr lang="en-GB" sz="3200" dirty="0">
                <a:solidFill>
                  <a:srgbClr val="0070C0"/>
                </a:solidFill>
                <a:latin typeface="Bookman Old Style" pitchFamily="18" charset="0"/>
                <a:ea typeface="ADLaM Display" panose="02010000000000000000" pitchFamily="2" charset="0"/>
                <a:cs typeface="ADLaM Display" panose="02010000000000000000" pitchFamily="2" charset="0"/>
              </a:rPr>
              <a:t> June 2026)</a:t>
            </a:r>
          </a:p>
        </p:txBody>
      </p:sp>
      <p:sp>
        <p:nvSpPr>
          <p:cNvPr id="5" name="Title 1">
            <a:extLs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1127448" y="2435342"/>
            <a:ext cx="10696612" cy="936104"/>
          </a:xfrm>
          <a:prstGeom prst="rect">
            <a:avLst/>
          </a:prstGeom>
        </p:spPr>
        <p:txBody>
          <a:bodyPr vert="horz" lIns="91440" tIns="45720" rIns="91440" bIns="45720" rtlCol="0" anchor="b">
            <a:noAutofit/>
          </a:bodyPr>
          <a:lstStyle/>
          <a:p>
            <a:pPr lvl="0" algn="ctr">
              <a:lnSpc>
                <a:spcPct val="90000"/>
              </a:lnSpc>
              <a:spcBef>
                <a:spcPct val="0"/>
              </a:spcBef>
            </a:pPr>
            <a:r>
              <a:rPr lang="en-GB" sz="4000" dirty="0">
                <a:solidFill>
                  <a:srgbClr val="C00000"/>
                </a:solidFill>
                <a:latin typeface="Bookman Old Style" pitchFamily="18" charset="0"/>
                <a:ea typeface="ADLaM Display" panose="02010000000000000000" pitchFamily="2" charset="0"/>
                <a:cs typeface="ADLaM Display" panose="02010000000000000000" pitchFamily="2" charset="0"/>
              </a:rPr>
              <a:t>Review-3</a:t>
            </a:r>
            <a:endParaRPr lang="en-US" sz="4000" dirty="0">
              <a:solidFill>
                <a:srgbClr val="C00000"/>
              </a:solidFill>
              <a:latin typeface="Bookman Old Style" pitchFamily="18" charset="0"/>
            </a:endParaRPr>
          </a:p>
        </p:txBody>
      </p:sp>
      <p:sp>
        <p:nvSpPr>
          <p:cNvPr id="4" name="Title 1">
            <a:extLst>
              <a:ext uri="{FF2B5EF4-FFF2-40B4-BE49-F238E27FC236}">
                <a16:creationId xmlns:a16="http://schemas.microsoft.com/office/drawing/2014/main" id="{C697F756-CC06-B299-9F26-7E8B254D5996}"/>
              </a:ex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1035775" y="3995309"/>
            <a:ext cx="10696612" cy="936104"/>
          </a:xfrm>
          <a:prstGeom prst="rect">
            <a:avLst/>
          </a:prstGeom>
        </p:spPr>
        <p:txBody>
          <a:bodyPr vert="horz" lIns="91440" tIns="45720" rIns="91440" bIns="45720" rtlCol="0" anchor="b">
            <a:noAutofit/>
          </a:bodyPr>
          <a:lstStyle/>
          <a:p>
            <a:pPr lvl="0" algn="ctr">
              <a:lnSpc>
                <a:spcPct val="90000"/>
              </a:lnSpc>
              <a:spcBef>
                <a:spcPct val="0"/>
              </a:spcBef>
            </a:pPr>
            <a:r>
              <a:rPr lang="en-GB" sz="2400" dirty="0">
                <a:solidFill>
                  <a:srgbClr val="C00000"/>
                </a:solidFill>
                <a:latin typeface="Bookman Old Style" pitchFamily="18" charset="0"/>
                <a:ea typeface="ADLaM Display" panose="02010000000000000000" pitchFamily="2" charset="0"/>
                <a:cs typeface="ADLaM Display" panose="02010000000000000000" pitchFamily="2" charset="0"/>
              </a:rPr>
              <a:t>Project Title: Smart Civic Issue Reporting and Resolution System for Smart Cities. </a:t>
            </a:r>
            <a:endParaRPr lang="en-US" sz="2400" dirty="0">
              <a:solidFill>
                <a:srgbClr val="C00000"/>
              </a:solidFill>
              <a:latin typeface="Bookman Old Style" pitchFamily="18" charset="0"/>
            </a:endParaRPr>
          </a:p>
        </p:txBody>
      </p:sp>
      <p:sp>
        <p:nvSpPr>
          <p:cNvPr id="6" name="Title 1">
            <a:extLst>
              <a:ext uri="{FF2B5EF4-FFF2-40B4-BE49-F238E27FC236}">
                <a16:creationId xmlns:a16="http://schemas.microsoft.com/office/drawing/2014/main" id="{D5413A39-CC5B-41A8-0597-7A72CEFDEA3A}"/>
              </a:ex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1132305" y="4898887"/>
            <a:ext cx="3535680" cy="1944900"/>
          </a:xfrm>
          <a:prstGeom prst="rect">
            <a:avLst/>
          </a:prstGeom>
        </p:spPr>
        <p:txBody>
          <a:bodyPr vert="horz" lIns="91440" tIns="45720" rIns="91440" bIns="45720" rtlCol="0" anchor="b">
            <a:noAutofit/>
          </a:bodyPr>
          <a:lstStyle/>
          <a:p>
            <a:pPr marL="285750" lvl="0" indent="-285750">
              <a:lnSpc>
                <a:spcPct val="90000"/>
              </a:lnSpc>
              <a:spcBef>
                <a:spcPct val="0"/>
              </a:spcBef>
              <a:buFont typeface="Arial" panose="020B0604020202020204" pitchFamily="34" charset="0"/>
              <a:buChar char="•"/>
            </a:pPr>
            <a:r>
              <a:rPr lang="en-US" sz="1600" dirty="0">
                <a:solidFill>
                  <a:srgbClr val="C00000"/>
                </a:solidFill>
                <a:latin typeface="Bookman Old Style" pitchFamily="18" charset="0"/>
              </a:rPr>
              <a:t>Dr. K. Chandra Sekhar,</a:t>
            </a:r>
          </a:p>
          <a:p>
            <a:pPr lvl="0">
              <a:lnSpc>
                <a:spcPct val="90000"/>
              </a:lnSpc>
              <a:spcBef>
                <a:spcPct val="0"/>
              </a:spcBef>
            </a:pPr>
            <a:r>
              <a:rPr lang="en-US" sz="1600" dirty="0">
                <a:solidFill>
                  <a:srgbClr val="C00000"/>
                </a:solidFill>
                <a:latin typeface="Bookman Old Style" pitchFamily="18" charset="0"/>
              </a:rPr>
              <a:t>     Associate Professor, </a:t>
            </a:r>
          </a:p>
          <a:p>
            <a:pPr lvl="0">
              <a:lnSpc>
                <a:spcPct val="90000"/>
              </a:lnSpc>
              <a:spcBef>
                <a:spcPct val="0"/>
              </a:spcBef>
            </a:pPr>
            <a:r>
              <a:rPr lang="en-US" sz="1600" dirty="0">
                <a:solidFill>
                  <a:srgbClr val="C00000"/>
                </a:solidFill>
                <a:latin typeface="Bookman Old Style" pitchFamily="18" charset="0"/>
              </a:rPr>
              <a:t>     Department of CSE.(Guide)</a:t>
            </a:r>
          </a:p>
          <a:p>
            <a:pPr marL="285750" lvl="0" indent="-285750">
              <a:lnSpc>
                <a:spcPct val="90000"/>
              </a:lnSpc>
              <a:spcBef>
                <a:spcPct val="0"/>
              </a:spcBef>
              <a:buFont typeface="Arial" panose="020B0604020202020204" pitchFamily="34" charset="0"/>
              <a:buChar char="•"/>
            </a:pPr>
            <a:endParaRPr lang="en-US" sz="1600" dirty="0">
              <a:solidFill>
                <a:srgbClr val="C00000"/>
              </a:solidFill>
              <a:latin typeface="Bookman Old Style" pitchFamily="18" charset="0"/>
            </a:endParaRPr>
          </a:p>
          <a:p>
            <a:pPr marL="285750" lvl="0" indent="-285750">
              <a:lnSpc>
                <a:spcPct val="90000"/>
              </a:lnSpc>
              <a:spcBef>
                <a:spcPct val="0"/>
              </a:spcBef>
              <a:buFont typeface="Arial" panose="020B0604020202020204" pitchFamily="34" charset="0"/>
              <a:buChar char="•"/>
            </a:pPr>
            <a:r>
              <a:rPr lang="en-US" sz="1600" dirty="0" err="1">
                <a:solidFill>
                  <a:srgbClr val="C00000"/>
                </a:solidFill>
                <a:latin typeface="Bookman Old Style" pitchFamily="18" charset="0"/>
              </a:rPr>
              <a:t>Mrs.Lakshmi</a:t>
            </a:r>
            <a:r>
              <a:rPr lang="en-US" sz="1600" dirty="0">
                <a:solidFill>
                  <a:srgbClr val="C00000"/>
                </a:solidFill>
                <a:latin typeface="Bookman Old Style" pitchFamily="18" charset="0"/>
              </a:rPr>
              <a:t> Kranti G,</a:t>
            </a:r>
            <a:br>
              <a:rPr lang="en-US" sz="1600" dirty="0">
                <a:solidFill>
                  <a:srgbClr val="C00000"/>
                </a:solidFill>
                <a:latin typeface="Bookman Old Style" pitchFamily="18" charset="0"/>
              </a:rPr>
            </a:br>
            <a:r>
              <a:rPr lang="en-US" sz="1600" dirty="0">
                <a:solidFill>
                  <a:srgbClr val="C00000"/>
                </a:solidFill>
                <a:latin typeface="Bookman Old Style" pitchFamily="18" charset="0"/>
              </a:rPr>
              <a:t>Assistant Professor,</a:t>
            </a:r>
            <a:br>
              <a:rPr lang="en-US" sz="1600" dirty="0">
                <a:solidFill>
                  <a:srgbClr val="C00000"/>
                </a:solidFill>
                <a:latin typeface="Bookman Old Style" pitchFamily="18" charset="0"/>
              </a:rPr>
            </a:br>
            <a:r>
              <a:rPr lang="en-US" sz="1600" dirty="0">
                <a:solidFill>
                  <a:srgbClr val="C00000"/>
                </a:solidFill>
                <a:latin typeface="Bookman Old Style" pitchFamily="18" charset="0"/>
              </a:rPr>
              <a:t>Department of CSE.(Co-Guide)</a:t>
            </a:r>
            <a:br>
              <a:rPr lang="en-US" sz="1600" dirty="0">
                <a:solidFill>
                  <a:srgbClr val="C00000"/>
                </a:solidFill>
                <a:latin typeface="Bookman Old Style" pitchFamily="18" charset="0"/>
              </a:rPr>
            </a:br>
            <a:endParaRPr lang="en-US" sz="1600" dirty="0">
              <a:solidFill>
                <a:srgbClr val="C00000"/>
              </a:solidFill>
              <a:latin typeface="Bookman Old Style" pitchFamily="18" charset="0"/>
            </a:endParaRPr>
          </a:p>
        </p:txBody>
      </p:sp>
      <p:sp>
        <p:nvSpPr>
          <p:cNvPr id="8" name="Title 1">
            <a:extLst>
              <a:ext uri="{FF2B5EF4-FFF2-40B4-BE49-F238E27FC236}">
                <a16:creationId xmlns:a16="http://schemas.microsoft.com/office/drawing/2014/main" id="{3EEEA07B-DFD6-4C8C-E408-7F059A3848EE}"/>
              </a:ext>
              <a:ext uri="{20663F85-F48B-43E1-96BA-3B1BE53937F7}">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6082DE41-6288-42A5-A437-B3C890B5FD67}"/>
              </a:ext>
            </a:extLst>
          </p:cNvPr>
          <p:cNvSpPr txBox="1"/>
          <p:nvPr/>
        </p:nvSpPr>
        <p:spPr>
          <a:xfrm>
            <a:off x="7543800" y="5486400"/>
            <a:ext cx="4495800" cy="936104"/>
          </a:xfrm>
          <a:prstGeom prst="rect">
            <a:avLst/>
          </a:prstGeom>
        </p:spPr>
        <p:txBody>
          <a:bodyPr vert="horz" lIns="91440" tIns="45720" rIns="91440" bIns="45720" rtlCol="0" anchor="b">
            <a:noAutofit/>
          </a:bodyPr>
          <a:lstStyle/>
          <a:p>
            <a:pPr marL="285750" lvl="0" indent="-285750">
              <a:lnSpc>
                <a:spcPct val="90000"/>
              </a:lnSpc>
              <a:spcBef>
                <a:spcPct val="0"/>
              </a:spcBef>
              <a:buFont typeface="Arial" panose="020B0604020202020204" pitchFamily="34" charset="0"/>
              <a:buChar char="•"/>
            </a:pPr>
            <a:r>
              <a:rPr lang="en-GB" sz="1600" dirty="0" err="1">
                <a:solidFill>
                  <a:srgbClr val="C00000"/>
                </a:solidFill>
                <a:latin typeface="Bookman Old Style" pitchFamily="18" charset="0"/>
                <a:ea typeface="ADLaM Display" panose="02010000000000000000" pitchFamily="2" charset="0"/>
                <a:cs typeface="ADLaM Display" panose="02010000000000000000" pitchFamily="2" charset="0"/>
              </a:rPr>
              <a:t>P.Bakht</a:t>
            </a:r>
            <a:r>
              <a:rPr lang="en-GB" sz="1600" dirty="0">
                <a:solidFill>
                  <a:srgbClr val="C00000"/>
                </a:solidFill>
                <a:latin typeface="Bookman Old Style" pitchFamily="18" charset="0"/>
                <a:ea typeface="ADLaM Display" panose="02010000000000000000" pitchFamily="2" charset="0"/>
                <a:cs typeface="ADLaM Display" panose="02010000000000000000" pitchFamily="2" charset="0"/>
              </a:rPr>
              <a:t> Singh – 24B11CS343 – CSE</a:t>
            </a:r>
          </a:p>
          <a:p>
            <a:pPr marL="285750" indent="-285750">
              <a:lnSpc>
                <a:spcPct val="90000"/>
              </a:lnSpc>
              <a:spcBef>
                <a:spcPct val="0"/>
              </a:spcBef>
              <a:buFont typeface="Arial" panose="020B0604020202020204" pitchFamily="34" charset="0"/>
              <a:buChar char="•"/>
            </a:pPr>
            <a:r>
              <a:rPr lang="en-GB" sz="1600" dirty="0">
                <a:solidFill>
                  <a:srgbClr val="C00000"/>
                </a:solidFill>
                <a:latin typeface="Bookman Old Style" pitchFamily="18" charset="0"/>
                <a:ea typeface="ADLaM Display" panose="02010000000000000000" pitchFamily="2" charset="0"/>
                <a:cs typeface="ADLaM Display" panose="02010000000000000000" pitchFamily="2" charset="0"/>
              </a:rPr>
              <a:t>Never </a:t>
            </a:r>
            <a:r>
              <a:rPr lang="en-GB" sz="1600" dirty="0" err="1">
                <a:solidFill>
                  <a:srgbClr val="C00000"/>
                </a:solidFill>
                <a:latin typeface="Bookman Old Style" pitchFamily="18" charset="0"/>
                <a:ea typeface="ADLaM Display" panose="02010000000000000000" pitchFamily="2" charset="0"/>
                <a:cs typeface="ADLaM Display" panose="02010000000000000000" pitchFamily="2" charset="0"/>
              </a:rPr>
              <a:t>Junior.K</a:t>
            </a:r>
            <a:r>
              <a:rPr lang="en-GB" sz="1600" dirty="0">
                <a:solidFill>
                  <a:srgbClr val="C00000"/>
                </a:solidFill>
                <a:latin typeface="Bookman Old Style" pitchFamily="18" charset="0"/>
                <a:ea typeface="ADLaM Display" panose="02010000000000000000" pitchFamily="2" charset="0"/>
                <a:cs typeface="ADLaM Display" panose="02010000000000000000" pitchFamily="2" charset="0"/>
              </a:rPr>
              <a:t> –24B11CS547- CSE</a:t>
            </a:r>
            <a:endParaRPr lang="en-US" sz="1600" dirty="0">
              <a:solidFill>
                <a:srgbClr val="C00000"/>
              </a:solidFill>
              <a:latin typeface="Bookman Old Style" pitchFamily="18" charset="0"/>
            </a:endParaRPr>
          </a:p>
          <a:p>
            <a:pPr marL="285750" indent="-285750">
              <a:lnSpc>
                <a:spcPct val="90000"/>
              </a:lnSpc>
              <a:spcBef>
                <a:spcPct val="0"/>
              </a:spcBef>
              <a:buFont typeface="Arial" panose="020B0604020202020204" pitchFamily="34" charset="0"/>
              <a:buChar char="•"/>
            </a:pPr>
            <a:r>
              <a:rPr lang="en-GB" sz="1600" dirty="0">
                <a:solidFill>
                  <a:srgbClr val="C00000"/>
                </a:solidFill>
                <a:latin typeface="Bookman Old Style" pitchFamily="18" charset="0"/>
                <a:ea typeface="ADLaM Display" panose="02010000000000000000" pitchFamily="2" charset="0"/>
                <a:cs typeface="ADLaM Display" panose="02010000000000000000" pitchFamily="2" charset="0"/>
              </a:rPr>
              <a:t>Budwell K.N – 24B11CS511 - CSE</a:t>
            </a:r>
            <a:endParaRPr lang="en-US" sz="1600" dirty="0">
              <a:solidFill>
                <a:srgbClr val="C00000"/>
              </a:solidFill>
              <a:latin typeface="Bookman Old Style" pitchFamily="18" charset="0"/>
            </a:endParaRPr>
          </a:p>
          <a:p>
            <a:pPr marL="285750" lvl="0" indent="-285750" algn="ctr">
              <a:lnSpc>
                <a:spcPct val="90000"/>
              </a:lnSpc>
              <a:spcBef>
                <a:spcPct val="0"/>
              </a:spcBef>
              <a:buFont typeface="Arial" panose="020B0604020202020204" pitchFamily="34" charset="0"/>
              <a:buChar char="•"/>
            </a:pPr>
            <a:endParaRPr lang="en-US" sz="1600" dirty="0">
              <a:solidFill>
                <a:srgbClr val="C00000"/>
              </a:solidFill>
              <a:latin typeface="Bookman Old Style" pitchFamily="18" charset="0"/>
            </a:endParaRPr>
          </a:p>
        </p:txBody>
      </p:sp>
      <p:sp>
        <p:nvSpPr>
          <p:cNvPr id="9" name="Title 1">
            <a:extLst>
              <a:ext uri="{FF2B5EF4-FFF2-40B4-BE49-F238E27FC236}">
                <a16:creationId xmlns:a16="http://schemas.microsoft.com/office/drawing/2014/main" id="{87EAFF15-9962-E37C-B7F1-96FCE63540D3}"/>
              </a:ext>
              <a:ext uri="{64856C8F-7DB4-4507-9010-97CF4AE55C32}">
                <a16:creationId xmlns:a16="http://schemas.microsoft.com/office/drawing/2010/main" xmlns:vt="http://schemas.openxmlformats.org/officeDocument/2006/docPropsVTypes" xmlns:ns1="http://schemas.openxmlformats.org/officeDocument/2006/extended-properties" xmlns:cs="http://schemas.microsoft.com/office/drawing/2012/chartStyle" xmlns:c="http://schemas.openxmlformats.org/drawingml/2006/chart" xmlns="" id="{72140DA9-F832-465D-86DE-FEB6803F3756}"/>
              </a:ext>
            </a:extLst>
          </p:cNvPr>
          <p:cNvSpPr txBox="1"/>
          <p:nvPr/>
        </p:nvSpPr>
        <p:spPr>
          <a:xfrm>
            <a:off x="1490308" y="3258921"/>
            <a:ext cx="10696612" cy="685800"/>
          </a:xfrm>
          <a:prstGeom prst="rect">
            <a:avLst/>
          </a:prstGeom>
        </p:spPr>
        <p:txBody>
          <a:bodyPr vert="horz" lIns="91440" tIns="45720" rIns="91440" bIns="45720" rtlCol="0" anchor="b">
            <a:noAutofit/>
          </a:bodyPr>
          <a:lstStyle/>
          <a:p>
            <a:pPr lvl="0" algn="ctr">
              <a:lnSpc>
                <a:spcPct val="90000"/>
              </a:lnSpc>
              <a:spcBef>
                <a:spcPct val="0"/>
              </a:spcBef>
            </a:pPr>
            <a:r>
              <a:rPr lang="en-GB" sz="2800" dirty="0">
                <a:solidFill>
                  <a:srgbClr val="0070C0"/>
                </a:solidFill>
                <a:latin typeface="Bookman Old Style" pitchFamily="18" charset="0"/>
                <a:ea typeface="ADLaM Display" panose="02010000000000000000" pitchFamily="2" charset="0"/>
                <a:cs typeface="ADLaM Display" panose="02010000000000000000" pitchFamily="2" charset="0"/>
              </a:rPr>
              <a:t>Department of Computer Science and Engineering</a:t>
            </a:r>
          </a:p>
        </p:txBody>
      </p:sp>
    </p:spTree>
    <p:extLst>
      <p:ext uri="{59DB2955-81A9-4330-9517-4CB607EFC6F5}">
        <p14:creationId xmlns:p14="http://schemas.microsoft.com/office/powerpoint/2010/main" xmlns:vt="http://schemas.openxmlformats.org/officeDocument/2006/docPropsVTypes" xmlns:ns1="http://schemas.openxmlformats.org/officeDocument/2006/extended-properties" xmlns:cs="http://schemas.microsoft.com/office/drawing/2012/chartStyle" xmlns:c="http://schemas.openxmlformats.org/drawingml/2006/chart" xmlns="" val="1748511710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5C6C-02DB-1C4E-5853-CD4EF8E3E6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C27362-CAFC-5A24-E246-1935B32D1485}"/>
              </a:ext>
            </a:extLst>
          </p:cNvPr>
          <p:cNvSpPr>
            <a:spLocks noGrp="1"/>
          </p:cNvSpPr>
          <p:nvPr>
            <p:ph/>
          </p:nvPr>
        </p:nvSpPr>
        <p:spPr>
          <a:xfrm>
            <a:off x="839416" y="888670"/>
            <a:ext cx="11017224" cy="5976664"/>
          </a:xfrm>
        </p:spPr>
        <p:txBody>
          <a:bodyPr>
            <a:noAutofit/>
          </a:bodyPr>
          <a:lstStyle/>
          <a:p>
            <a:pPr algn="just">
              <a:lnSpc>
                <a:spcPct val="100000"/>
              </a:lnSpc>
            </a:pPr>
            <a:r>
              <a:rPr lang="en-US" sz="1800" b="1" dirty="0">
                <a:latin typeface="Times New Roman" panose="02020603050405020304" pitchFamily="18" charset="0"/>
                <a:cs typeface="Times New Roman" panose="02020603050405020304" pitchFamily="18" charset="0"/>
              </a:rPr>
              <a:t>Problem Statement</a:t>
            </a:r>
          </a:p>
          <a:p>
            <a:pPr algn="just">
              <a:lnSpc>
                <a:spcPct val="100000"/>
              </a:lnSpc>
            </a:pPr>
            <a:r>
              <a:rPr lang="en-US" sz="1600" dirty="0">
                <a:latin typeface="Times New Roman" panose="02020603050405020304" pitchFamily="18" charset="0"/>
                <a:cs typeface="Times New Roman" panose="02020603050405020304" pitchFamily="18" charset="0"/>
              </a:rPr>
              <a:t>In many cities, citizens face difficulties in reporting civic issues such as:</a:t>
            </a:r>
          </a:p>
          <a:p>
            <a:pPr marL="7429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Street light failures</a:t>
            </a:r>
          </a:p>
          <a:p>
            <a:pPr marL="7429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Garbage overflow </a:t>
            </a:r>
          </a:p>
          <a:p>
            <a:pPr marL="7429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Water leakage</a:t>
            </a:r>
          </a:p>
          <a:p>
            <a:pPr marL="7429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Road damage </a:t>
            </a:r>
          </a:p>
          <a:p>
            <a:pPr marL="742950" indent="-28575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Drainage problems, and many more.</a:t>
            </a:r>
          </a:p>
          <a:p>
            <a:pPr algn="just">
              <a:lnSpc>
                <a:spcPct val="100000"/>
              </a:lnSpc>
            </a:pPr>
            <a:r>
              <a:rPr lang="en-US" sz="1600" dirty="0">
                <a:latin typeface="Times New Roman" panose="02020603050405020304" pitchFamily="18" charset="0"/>
                <a:cs typeface="Times New Roman" panose="02020603050405020304" pitchFamily="18" charset="0"/>
              </a:rPr>
              <a:t>Existing complaint systems are often slow, unorganized, and lack proper communication between citizens, authorities, and workers. Complaints may not reach the correct department on time, causing delays in issue resolution. There is also limited transparency for citizens to track complaint progress. Manual management increases workload on municipal authorities and reduces efficiency.</a:t>
            </a:r>
          </a:p>
          <a:p>
            <a:pPr algn="just">
              <a:lnSpc>
                <a:spcPct val="100000"/>
              </a:lnSpc>
            </a:pPr>
            <a:r>
              <a:rPr lang="en-US" sz="1600" dirty="0">
                <a:latin typeface="Times New Roman" panose="02020603050405020304" pitchFamily="18" charset="0"/>
                <a:cs typeface="Times New Roman" panose="02020603050405020304" pitchFamily="18" charset="0"/>
              </a:rPr>
              <a:t>Hence, there is a need for a smart digital platform that can:</a:t>
            </a:r>
          </a:p>
          <a:p>
            <a:pPr marL="800100" indent="-34290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Simplify complaint reporting </a:t>
            </a:r>
          </a:p>
          <a:p>
            <a:pPr marL="800100" indent="-34290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Automatically organize issues department-wise </a:t>
            </a:r>
          </a:p>
          <a:p>
            <a:pPr marL="800100" indent="-34290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Assign work efficiently </a:t>
            </a:r>
          </a:p>
          <a:p>
            <a:pPr marL="800100" indent="-34290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Notify workers instantly </a:t>
            </a:r>
          </a:p>
          <a:p>
            <a:pPr marL="800100" indent="-342900" algn="just">
              <a:lnSpc>
                <a:spcPct val="10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Track complaint resolution status</a:t>
            </a:r>
          </a:p>
          <a:p>
            <a:pPr algn="just">
              <a:lnSpc>
                <a:spcPct val="100000"/>
              </a:lnSpc>
            </a:pPr>
            <a:endParaRPr lang="en-IN" sz="1500" dirty="0">
              <a:latin typeface="Times New Roman" panose="02020603050405020304" pitchFamily="18" charset="0"/>
              <a:cs typeface="Times New Roman" panose="02020603050405020304" pitchFamily="18" charset="0"/>
            </a:endParaRPr>
          </a:p>
          <a:p>
            <a:pPr algn="just">
              <a:lnSpc>
                <a:spcPct val="100000"/>
              </a:lnSpc>
            </a:pP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867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18070-73B8-1ADD-D4A4-85DDDD3E2C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952EF6-B056-83F5-9624-393786A90B9B}"/>
              </a:ext>
            </a:extLst>
          </p:cNvPr>
          <p:cNvSpPr>
            <a:spLocks noGrp="1"/>
          </p:cNvSpPr>
          <p:nvPr>
            <p:ph/>
          </p:nvPr>
        </p:nvSpPr>
        <p:spPr>
          <a:xfrm>
            <a:off x="767408" y="1196752"/>
            <a:ext cx="11017224" cy="5616624"/>
          </a:xfrm>
        </p:spPr>
        <p:txBody>
          <a:bodyPr>
            <a:noAutofit/>
          </a:bodyPr>
          <a:lstStyle/>
          <a:p>
            <a:pPr algn="just"/>
            <a:r>
              <a:rPr lang="en-US" sz="2400" b="1" dirty="0">
                <a:latin typeface="Times New Roman" panose="02020603050405020304" pitchFamily="18" charset="0"/>
                <a:cs typeface="Times New Roman" panose="02020603050405020304" pitchFamily="18" charset="0"/>
              </a:rPr>
              <a:t>Objective</a:t>
            </a:r>
            <a:endParaRPr lang="en-US" sz="1600" b="1" dirty="0"/>
          </a:p>
          <a:p>
            <a:pPr algn="just"/>
            <a:r>
              <a:rPr lang="en-IN" sz="1600" dirty="0">
                <a:latin typeface="Times New Roman" panose="02020603050405020304" pitchFamily="18" charset="0"/>
                <a:cs typeface="Times New Roman" panose="02020603050405020304" pitchFamily="18" charset="0"/>
              </a:rPr>
              <a:t>To provide a digital platform where citizens can report civic issues, track complaint status, and receive updates while enabling municipal authorities to efficiently manage and resolve complaints.</a:t>
            </a:r>
          </a:p>
          <a:p>
            <a:pPr algn="just"/>
            <a:r>
              <a:rPr lang="en-IN" sz="1600" b="1" dirty="0">
                <a:latin typeface="Times New Roman" panose="02020603050405020304" pitchFamily="18" charset="0"/>
                <a:cs typeface="Times New Roman" panose="02020603050405020304" pitchFamily="18" charset="0"/>
              </a:rPr>
              <a:t>Key Features</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Online Complaint Registration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Image Upload Support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Complaint Tracking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Department-wise Issue Management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AI-Based Complaint Forecasting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Conversational AI Chatbot </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Role-Based Access Control (RBAC) </a:t>
            </a:r>
          </a:p>
          <a:p>
            <a:pPr algn="just"/>
            <a:r>
              <a:rPr lang="en-IN" sz="1600" b="1" dirty="0">
                <a:latin typeface="Times New Roman" panose="02020603050405020304" pitchFamily="18" charset="0"/>
                <a:cs typeface="Times New Roman" panose="02020603050405020304" pitchFamily="18" charset="0"/>
              </a:rPr>
              <a:t>Users</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Citizen – Reports civic issues, uploads evidence, tracks complaint status, and receives updates.</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Admin – Monitors all complaints, manages departments, and oversees system operations.</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Officer – Reviews assigned complaints and allocates tasks to field workers.</a:t>
            </a:r>
          </a:p>
          <a:p>
            <a:pPr marL="7429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Worker – Resolves assigned issues and updates the complaint progress/status.</a:t>
            </a:r>
          </a:p>
          <a:p>
            <a:pPr algn="just"/>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2797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D975-1F93-00D3-8C46-42D501D5370C}"/>
            </a:ext>
          </a:extLst>
        </p:cNvPr>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B164355F-A9DD-3308-3723-25F1A4BB9A55}"/>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1487488" y="1124744"/>
            <a:ext cx="10063030" cy="5544790"/>
          </a:xfrm>
          <a:prstGeom prst="rect">
            <a:avLst/>
          </a:prstGeom>
        </p:spPr>
      </p:pic>
    </p:spTree>
    <p:extLst>
      <p:ext uri="{BB962C8B-B14F-4D97-AF65-F5344CB8AC3E}">
        <p14:creationId xmlns:p14="http://schemas.microsoft.com/office/powerpoint/2010/main" val="2047751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A97B3-5F89-CD6F-0A10-10816C66DA30}"/>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6D6425E-693B-6F76-595A-80A801718B58}"/>
              </a:ext>
            </a:extLst>
          </p:cNvPr>
          <p:cNvGraphicFramePr>
            <a:graphicFrameLocks noGrp="1"/>
          </p:cNvGraphicFramePr>
          <p:nvPr>
            <p:extLst>
              <p:ext uri="{D42A27DB-BD31-4B8C-83A1-F6EECF244321}">
                <p14:modId xmlns:p14="http://schemas.microsoft.com/office/powerpoint/2010/main" val="3028346519"/>
              </p:ext>
            </p:extLst>
          </p:nvPr>
        </p:nvGraphicFramePr>
        <p:xfrm>
          <a:off x="1487488" y="1196752"/>
          <a:ext cx="9781708" cy="4961510"/>
        </p:xfrm>
        <a:graphic>
          <a:graphicData uri="http://schemas.openxmlformats.org/drawingml/2006/table">
            <a:tbl>
              <a:tblPr>
                <a:tableStyleId>{616DA210-FB5B-4158-B5E0-FEB733F419BA}</a:tableStyleId>
              </a:tblPr>
              <a:tblGrid>
                <a:gridCol w="4957172">
                  <a:extLst>
                    <a:ext uri="{9D8B030D-6E8A-4147-A177-3AD203B41FA5}">
                      <a16:colId xmlns:a16="http://schemas.microsoft.com/office/drawing/2014/main" val="319745867"/>
                    </a:ext>
                  </a:extLst>
                </a:gridCol>
                <a:gridCol w="4824536">
                  <a:extLst>
                    <a:ext uri="{9D8B030D-6E8A-4147-A177-3AD203B41FA5}">
                      <a16:colId xmlns:a16="http://schemas.microsoft.com/office/drawing/2014/main" val="4066161645"/>
                    </a:ext>
                  </a:extLst>
                </a:gridCol>
              </a:tblGrid>
              <a:tr h="267990">
                <a:tc>
                  <a:txBody>
                    <a:bodyPr/>
                    <a:lstStyle/>
                    <a:p>
                      <a:pPr algn="ctr">
                        <a:lnSpc>
                          <a:spcPct val="150000"/>
                        </a:lnSpc>
                        <a:buNone/>
                      </a:pPr>
                      <a:r>
                        <a:rPr lang="en-IN" sz="1800" b="1" dirty="0">
                          <a:latin typeface="Times New Roman" panose="02020603050405020304" pitchFamily="18" charset="0"/>
                          <a:cs typeface="Times New Roman" panose="02020603050405020304" pitchFamily="18" charset="0"/>
                        </a:rPr>
                        <a:t>Technology</a:t>
                      </a:r>
                    </a:p>
                  </a:txBody>
                  <a:tcPr marL="45326" marR="45326" marT="22663" marB="22663" anchor="ctr"/>
                </a:tc>
                <a:tc>
                  <a:txBody>
                    <a:bodyPr/>
                    <a:lstStyle/>
                    <a:p>
                      <a:pPr algn="ctr">
                        <a:lnSpc>
                          <a:spcPct val="150000"/>
                        </a:lnSpc>
                        <a:buNone/>
                      </a:pPr>
                      <a:r>
                        <a:rPr lang="en-IN" sz="1800" b="1" dirty="0">
                          <a:latin typeface="Times New Roman" panose="02020603050405020304" pitchFamily="18" charset="0"/>
                          <a:cs typeface="Times New Roman" panose="02020603050405020304" pitchFamily="18" charset="0"/>
                        </a:rPr>
                        <a:t>Purpose</a:t>
                      </a:r>
                    </a:p>
                  </a:txBody>
                  <a:tcPr marL="45326" marR="45326" marT="22663" marB="22663" anchor="ctr"/>
                </a:tc>
                <a:extLst>
                  <a:ext uri="{0D108BD9-81ED-4DB2-BD59-A6C34878D82A}">
                    <a16:rowId xmlns:a16="http://schemas.microsoft.com/office/drawing/2014/main" val="809068155"/>
                  </a:ext>
                </a:extLst>
              </a:tr>
              <a:tr h="267990">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React.js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a:latin typeface="Times New Roman" panose="02020603050405020304" pitchFamily="18" charset="0"/>
                          <a:cs typeface="Times New Roman" panose="02020603050405020304" pitchFamily="18" charset="0"/>
                        </a:rPr>
                        <a:t>Builds the interactive and responsive user interface.</a:t>
                      </a:r>
                    </a:p>
                  </a:txBody>
                  <a:tcPr marL="45326" marR="45326" marT="22663" marB="22663" anchor="ctr"/>
                </a:tc>
                <a:extLst>
                  <a:ext uri="{0D108BD9-81ED-4DB2-BD59-A6C34878D82A}">
                    <a16:rowId xmlns:a16="http://schemas.microsoft.com/office/drawing/2014/main" val="408727601"/>
                  </a:ext>
                </a:extLst>
              </a:tr>
              <a:tr h="491636">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React Router</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dirty="0">
                          <a:latin typeface="Times New Roman" panose="02020603050405020304" pitchFamily="18" charset="0"/>
                          <a:cs typeface="Times New Roman" panose="02020603050405020304" pitchFamily="18" charset="0"/>
                        </a:rPr>
                        <a:t>Enables navigation between pages without reloading the application.</a:t>
                      </a:r>
                    </a:p>
                  </a:txBody>
                  <a:tcPr marL="45326" marR="45326" marT="22663" marB="22663" anchor="ctr"/>
                </a:tc>
                <a:extLst>
                  <a:ext uri="{0D108BD9-81ED-4DB2-BD59-A6C34878D82A}">
                    <a16:rowId xmlns:a16="http://schemas.microsoft.com/office/drawing/2014/main" val="851095829"/>
                  </a:ext>
                </a:extLst>
              </a:tr>
              <a:tr h="570522">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Axios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dirty="0">
                          <a:latin typeface="Times New Roman" panose="02020603050405020304" pitchFamily="18" charset="0"/>
                          <a:cs typeface="Times New Roman" panose="02020603050405020304" pitchFamily="18" charset="0"/>
                        </a:rPr>
                        <a:t>Handles communication between frontend and backend APIs.</a:t>
                      </a:r>
                    </a:p>
                  </a:txBody>
                  <a:tcPr marL="45326" marR="45326" marT="22663" marB="22663" anchor="ctr"/>
                </a:tc>
                <a:extLst>
                  <a:ext uri="{0D108BD9-81ED-4DB2-BD59-A6C34878D82A}">
                    <a16:rowId xmlns:a16="http://schemas.microsoft.com/office/drawing/2014/main" val="1912830126"/>
                  </a:ext>
                </a:extLst>
              </a:tr>
              <a:tr h="267990">
                <a:tc>
                  <a:txBody>
                    <a:bodyPr/>
                    <a:lstStyle/>
                    <a:p>
                      <a:pPr algn="ctr">
                        <a:lnSpc>
                          <a:spcPct val="150000"/>
                        </a:lnSpc>
                        <a:buNone/>
                      </a:pPr>
                      <a:r>
                        <a:rPr lang="en-IN" sz="1500" b="1">
                          <a:latin typeface="Times New Roman" panose="02020603050405020304" pitchFamily="18" charset="0"/>
                          <a:cs typeface="Times New Roman" panose="02020603050405020304" pitchFamily="18" charset="0"/>
                        </a:rPr>
                        <a:t>React Leaflet</a:t>
                      </a:r>
                      <a:endParaRPr lang="en-IN" sz="15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a:latin typeface="Times New Roman" panose="02020603050405020304" pitchFamily="18" charset="0"/>
                          <a:cs typeface="Times New Roman" panose="02020603050405020304" pitchFamily="18" charset="0"/>
                        </a:rPr>
                        <a:t>Displays complaint locations on an interactive map.</a:t>
                      </a:r>
                    </a:p>
                  </a:txBody>
                  <a:tcPr marL="45326" marR="45326" marT="22663" marB="22663" anchor="ctr"/>
                </a:tc>
                <a:extLst>
                  <a:ext uri="{0D108BD9-81ED-4DB2-BD59-A6C34878D82A}">
                    <a16:rowId xmlns:a16="http://schemas.microsoft.com/office/drawing/2014/main" val="1075704633"/>
                  </a:ext>
                </a:extLst>
              </a:tr>
              <a:tr h="491636">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Recharts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dirty="0">
                          <a:latin typeface="Times New Roman" panose="02020603050405020304" pitchFamily="18" charset="0"/>
                          <a:cs typeface="Times New Roman" panose="02020603050405020304" pitchFamily="18" charset="0"/>
                        </a:rPr>
                        <a:t>Visualizes complaint statistics and forecasting results through charts.</a:t>
                      </a:r>
                    </a:p>
                  </a:txBody>
                  <a:tcPr marL="45326" marR="45326" marT="22663" marB="22663" anchor="ctr"/>
                </a:tc>
                <a:extLst>
                  <a:ext uri="{0D108BD9-81ED-4DB2-BD59-A6C34878D82A}">
                    <a16:rowId xmlns:a16="http://schemas.microsoft.com/office/drawing/2014/main" val="4096443512"/>
                  </a:ext>
                </a:extLst>
              </a:tr>
              <a:tr h="491636">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Node.js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dirty="0">
                          <a:latin typeface="Times New Roman" panose="02020603050405020304" pitchFamily="18" charset="0"/>
                          <a:cs typeface="Times New Roman" panose="02020603050405020304" pitchFamily="18" charset="0"/>
                        </a:rPr>
                        <a:t>Provides the server-side runtime environment for backend development.</a:t>
                      </a:r>
                    </a:p>
                  </a:txBody>
                  <a:tcPr marL="45326" marR="45326" marT="22663" marB="22663" anchor="ctr"/>
                </a:tc>
                <a:extLst>
                  <a:ext uri="{0D108BD9-81ED-4DB2-BD59-A6C34878D82A}">
                    <a16:rowId xmlns:a16="http://schemas.microsoft.com/office/drawing/2014/main" val="424940697"/>
                  </a:ext>
                </a:extLst>
              </a:tr>
              <a:tr h="267990">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Express.js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a:latin typeface="Times New Roman" panose="02020603050405020304" pitchFamily="18" charset="0"/>
                          <a:cs typeface="Times New Roman" panose="02020603050405020304" pitchFamily="18" charset="0"/>
                        </a:rPr>
                        <a:t>Creates REST APIs and manages business logic.</a:t>
                      </a:r>
                    </a:p>
                  </a:txBody>
                  <a:tcPr marL="45326" marR="45326" marT="22663" marB="22663" anchor="ctr"/>
                </a:tc>
                <a:extLst>
                  <a:ext uri="{0D108BD9-81ED-4DB2-BD59-A6C34878D82A}">
                    <a16:rowId xmlns:a16="http://schemas.microsoft.com/office/drawing/2014/main" val="1791206729"/>
                  </a:ext>
                </a:extLst>
              </a:tr>
              <a:tr h="380270">
                <a:tc>
                  <a:txBody>
                    <a:bodyPr/>
                    <a:lstStyle/>
                    <a:p>
                      <a:pPr algn="ctr">
                        <a:lnSpc>
                          <a:spcPct val="150000"/>
                        </a:lnSpc>
                        <a:buNone/>
                      </a:pPr>
                      <a:r>
                        <a:rPr lang="en-IN" sz="1500" b="1">
                          <a:latin typeface="Times New Roman" panose="02020603050405020304" pitchFamily="18" charset="0"/>
                          <a:cs typeface="Times New Roman" panose="02020603050405020304" pitchFamily="18" charset="0"/>
                        </a:rPr>
                        <a:t>JWT Authentication</a:t>
                      </a:r>
                      <a:endParaRPr lang="en-IN" sz="150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a:latin typeface="Times New Roman" panose="02020603050405020304" pitchFamily="18" charset="0"/>
                          <a:cs typeface="Times New Roman" panose="02020603050405020304" pitchFamily="18" charset="0"/>
                        </a:rPr>
                        <a:t>Secures the system by verifying user identity and roles.</a:t>
                      </a:r>
                    </a:p>
                  </a:txBody>
                  <a:tcPr marL="45326" marR="45326" marT="22663" marB="22663" anchor="ctr"/>
                </a:tc>
                <a:extLst>
                  <a:ext uri="{0D108BD9-81ED-4DB2-BD59-A6C34878D82A}">
                    <a16:rowId xmlns:a16="http://schemas.microsoft.com/office/drawing/2014/main" val="309987697"/>
                  </a:ext>
                </a:extLst>
              </a:tr>
              <a:tr h="491636">
                <a:tc>
                  <a:txBody>
                    <a:bodyPr/>
                    <a:lstStyle/>
                    <a:p>
                      <a:pPr algn="ctr">
                        <a:lnSpc>
                          <a:spcPct val="150000"/>
                        </a:lnSpc>
                        <a:buNone/>
                      </a:pPr>
                      <a:r>
                        <a:rPr lang="en-IN" sz="1500" b="1" dirty="0">
                          <a:latin typeface="Times New Roman" panose="02020603050405020304" pitchFamily="18" charset="0"/>
                          <a:cs typeface="Times New Roman" panose="02020603050405020304" pitchFamily="18" charset="0"/>
                        </a:rPr>
                        <a:t>bcrypt.js</a:t>
                      </a:r>
                      <a:endParaRPr lang="en-IN" sz="1500" dirty="0">
                        <a:latin typeface="Times New Roman" panose="02020603050405020304" pitchFamily="18" charset="0"/>
                        <a:cs typeface="Times New Roman" panose="02020603050405020304" pitchFamily="18" charset="0"/>
                      </a:endParaRPr>
                    </a:p>
                  </a:txBody>
                  <a:tcPr marL="45326" marR="45326" marT="22663" marB="22663" anchor="ctr"/>
                </a:tc>
                <a:tc>
                  <a:txBody>
                    <a:bodyPr/>
                    <a:lstStyle/>
                    <a:p>
                      <a:pPr>
                        <a:lnSpc>
                          <a:spcPct val="150000"/>
                        </a:lnSpc>
                        <a:buNone/>
                      </a:pPr>
                      <a:r>
                        <a:rPr lang="en-IN" sz="1500" dirty="0">
                          <a:latin typeface="Times New Roman" panose="02020603050405020304" pitchFamily="18" charset="0"/>
                          <a:cs typeface="Times New Roman" panose="02020603050405020304" pitchFamily="18" charset="0"/>
                        </a:rPr>
                        <a:t>Encrypts user passwords before storing them in the database.</a:t>
                      </a:r>
                    </a:p>
                  </a:txBody>
                  <a:tcPr marL="45326" marR="45326" marT="22663" marB="22663" anchor="ctr"/>
                </a:tc>
                <a:extLst>
                  <a:ext uri="{0D108BD9-81ED-4DB2-BD59-A6C34878D82A}">
                    <a16:rowId xmlns:a16="http://schemas.microsoft.com/office/drawing/2014/main" val="1531818632"/>
                  </a:ext>
                </a:extLst>
              </a:tr>
            </a:tbl>
          </a:graphicData>
        </a:graphic>
      </p:graphicFrame>
    </p:spTree>
    <p:extLst>
      <p:ext uri="{BB962C8B-B14F-4D97-AF65-F5344CB8AC3E}">
        <p14:creationId xmlns:p14="http://schemas.microsoft.com/office/powerpoint/2010/main" val="3220955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8C267-993F-BBF5-412F-784B502E287A}"/>
            </a:ext>
          </a:extLst>
        </p:cNvPr>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55A27884-99E0-9D22-14CB-65799CD24E0B}"/>
              </a:ext>
            </a:extLst>
          </p:cNvPr>
          <p:cNvGraphicFramePr>
            <a:graphicFrameLocks noGrp="1"/>
          </p:cNvGraphicFramePr>
          <p:nvPr>
            <p:ph/>
            <p:extLst>
              <p:ext uri="{D42A27DB-BD31-4B8C-83A1-F6EECF244321}">
                <p14:modId xmlns:p14="http://schemas.microsoft.com/office/powerpoint/2010/main" val="1952874955"/>
              </p:ext>
            </p:extLst>
          </p:nvPr>
        </p:nvGraphicFramePr>
        <p:xfrm>
          <a:off x="2135560" y="1412776"/>
          <a:ext cx="8496944" cy="4824533"/>
        </p:xfrm>
        <a:graphic>
          <a:graphicData uri="http://schemas.openxmlformats.org/drawingml/2006/table">
            <a:tbl>
              <a:tblPr>
                <a:tableStyleId>{616DA210-FB5B-4158-B5E0-FEB733F419BA}</a:tableStyleId>
              </a:tblPr>
              <a:tblGrid>
                <a:gridCol w="4248472">
                  <a:extLst>
                    <a:ext uri="{9D8B030D-6E8A-4147-A177-3AD203B41FA5}">
                      <a16:colId xmlns:a16="http://schemas.microsoft.com/office/drawing/2014/main" val="3356408808"/>
                    </a:ext>
                  </a:extLst>
                </a:gridCol>
                <a:gridCol w="4248472">
                  <a:extLst>
                    <a:ext uri="{9D8B030D-6E8A-4147-A177-3AD203B41FA5}">
                      <a16:colId xmlns:a16="http://schemas.microsoft.com/office/drawing/2014/main" val="2472246132"/>
                    </a:ext>
                  </a:extLst>
                </a:gridCol>
              </a:tblGrid>
              <a:tr h="341005">
                <a:tc>
                  <a:txBody>
                    <a:bodyPr/>
                    <a:lstStyle/>
                    <a:p>
                      <a:pPr algn="ctr">
                        <a:buNone/>
                      </a:pPr>
                      <a:r>
                        <a:rPr lang="en-IN" sz="1800" b="1" dirty="0">
                          <a:latin typeface="Times New Roman" panose="02020603050405020304" pitchFamily="18" charset="0"/>
                          <a:cs typeface="Times New Roman" panose="02020603050405020304" pitchFamily="18" charset="0"/>
                        </a:rPr>
                        <a:t>Technology</a:t>
                      </a:r>
                    </a:p>
                  </a:txBody>
                  <a:tcPr marL="58506" marR="58506" marT="29253" marB="29253" anchor="ctr"/>
                </a:tc>
                <a:tc>
                  <a:txBody>
                    <a:bodyPr/>
                    <a:lstStyle/>
                    <a:p>
                      <a:pPr algn="ctr">
                        <a:buNone/>
                      </a:pPr>
                      <a:r>
                        <a:rPr lang="en-IN" sz="1800" b="1" dirty="0">
                          <a:latin typeface="Times New Roman" panose="02020603050405020304" pitchFamily="18" charset="0"/>
                          <a:cs typeface="Times New Roman" panose="02020603050405020304" pitchFamily="18" charset="0"/>
                        </a:rPr>
                        <a:t>Purpose</a:t>
                      </a:r>
                    </a:p>
                  </a:txBody>
                  <a:tcPr marL="58506" marR="58506" marT="29253" marB="29253" anchor="ctr"/>
                </a:tc>
                <a:extLst>
                  <a:ext uri="{0D108BD9-81ED-4DB2-BD59-A6C34878D82A}">
                    <a16:rowId xmlns:a16="http://schemas.microsoft.com/office/drawing/2014/main" val="2106120501"/>
                  </a:ext>
                </a:extLst>
              </a:tr>
              <a:tr h="560441">
                <a:tc>
                  <a:txBody>
                    <a:bodyPr/>
                    <a:lstStyle/>
                    <a:p>
                      <a:pPr algn="ctr">
                        <a:buNone/>
                      </a:pPr>
                      <a:r>
                        <a:rPr lang="en-IN" sz="1500" b="1" dirty="0">
                          <a:latin typeface="Times New Roman" panose="02020603050405020304" pitchFamily="18" charset="0"/>
                          <a:cs typeface="Times New Roman" panose="02020603050405020304" pitchFamily="18" charset="0"/>
                        </a:rPr>
                        <a:t>Multer</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dirty="0">
                          <a:latin typeface="Times New Roman" panose="02020603050405020304" pitchFamily="18" charset="0"/>
                          <a:cs typeface="Times New Roman" panose="02020603050405020304" pitchFamily="18" charset="0"/>
                        </a:rPr>
                        <a:t>Handles image uploads attached to complaints.</a:t>
                      </a:r>
                    </a:p>
                  </a:txBody>
                  <a:tcPr marL="58506" marR="58506" marT="29253" marB="29253" anchor="ctr"/>
                </a:tc>
                <a:extLst>
                  <a:ext uri="{0D108BD9-81ED-4DB2-BD59-A6C34878D82A}">
                    <a16:rowId xmlns:a16="http://schemas.microsoft.com/office/drawing/2014/main" val="1560093770"/>
                  </a:ext>
                </a:extLst>
              </a:tr>
              <a:tr h="560441">
                <a:tc>
                  <a:txBody>
                    <a:bodyPr/>
                    <a:lstStyle/>
                    <a:p>
                      <a:pPr algn="ctr">
                        <a:buNone/>
                      </a:pPr>
                      <a:r>
                        <a:rPr lang="en-IN" sz="1500" b="1" dirty="0">
                          <a:latin typeface="Times New Roman" panose="02020603050405020304" pitchFamily="18" charset="0"/>
                          <a:cs typeface="Times New Roman" panose="02020603050405020304" pitchFamily="18" charset="0"/>
                        </a:rPr>
                        <a:t>Nodemailer</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a:latin typeface="Times New Roman" panose="02020603050405020304" pitchFamily="18" charset="0"/>
                          <a:cs typeface="Times New Roman" panose="02020603050405020304" pitchFamily="18" charset="0"/>
                        </a:rPr>
                        <a:t>Sends automated email notifications to users.</a:t>
                      </a:r>
                    </a:p>
                  </a:txBody>
                  <a:tcPr marL="58506" marR="58506" marT="29253" marB="29253" anchor="ctr"/>
                </a:tc>
                <a:extLst>
                  <a:ext uri="{0D108BD9-81ED-4DB2-BD59-A6C34878D82A}">
                    <a16:rowId xmlns:a16="http://schemas.microsoft.com/office/drawing/2014/main" val="2445763640"/>
                  </a:ext>
                </a:extLst>
              </a:tr>
              <a:tr h="560441">
                <a:tc>
                  <a:txBody>
                    <a:bodyPr/>
                    <a:lstStyle/>
                    <a:p>
                      <a:pPr algn="ctr">
                        <a:buNone/>
                      </a:pPr>
                      <a:r>
                        <a:rPr lang="en-IN" sz="1500" b="1" dirty="0">
                          <a:latin typeface="Times New Roman" panose="02020603050405020304" pitchFamily="18" charset="0"/>
                          <a:cs typeface="Times New Roman" panose="02020603050405020304" pitchFamily="18" charset="0"/>
                        </a:rPr>
                        <a:t>MongoDB</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a:latin typeface="Times New Roman" panose="02020603050405020304" pitchFamily="18" charset="0"/>
                          <a:cs typeface="Times New Roman" panose="02020603050405020304" pitchFamily="18" charset="0"/>
                        </a:rPr>
                        <a:t>Stores all complaint, user, and system data.</a:t>
                      </a:r>
                    </a:p>
                  </a:txBody>
                  <a:tcPr marL="58506" marR="58506" marT="29253" marB="29253" anchor="ctr"/>
                </a:tc>
                <a:extLst>
                  <a:ext uri="{0D108BD9-81ED-4DB2-BD59-A6C34878D82A}">
                    <a16:rowId xmlns:a16="http://schemas.microsoft.com/office/drawing/2014/main" val="2114614443"/>
                  </a:ext>
                </a:extLst>
              </a:tr>
              <a:tr h="560441">
                <a:tc>
                  <a:txBody>
                    <a:bodyPr/>
                    <a:lstStyle/>
                    <a:p>
                      <a:pPr algn="ctr">
                        <a:buNone/>
                      </a:pPr>
                      <a:r>
                        <a:rPr lang="en-IN" sz="1500" b="1">
                          <a:latin typeface="Times New Roman" panose="02020603050405020304" pitchFamily="18" charset="0"/>
                          <a:cs typeface="Times New Roman" panose="02020603050405020304" pitchFamily="18" charset="0"/>
                        </a:rPr>
                        <a:t>Mongoose</a:t>
                      </a:r>
                      <a:endParaRPr lang="en-IN" sz="150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a:latin typeface="Times New Roman" panose="02020603050405020304" pitchFamily="18" charset="0"/>
                          <a:cs typeface="Times New Roman" panose="02020603050405020304" pitchFamily="18" charset="0"/>
                        </a:rPr>
                        <a:t>Provides schema-based interaction with MongoDB.</a:t>
                      </a:r>
                    </a:p>
                  </a:txBody>
                  <a:tcPr marL="58506" marR="58506" marT="29253" marB="29253" anchor="ctr"/>
                </a:tc>
                <a:extLst>
                  <a:ext uri="{0D108BD9-81ED-4DB2-BD59-A6C34878D82A}">
                    <a16:rowId xmlns:a16="http://schemas.microsoft.com/office/drawing/2014/main" val="3619678663"/>
                  </a:ext>
                </a:extLst>
              </a:tr>
              <a:tr h="560441">
                <a:tc>
                  <a:txBody>
                    <a:bodyPr/>
                    <a:lstStyle/>
                    <a:p>
                      <a:pPr algn="ctr">
                        <a:buNone/>
                      </a:pPr>
                      <a:r>
                        <a:rPr lang="en-IN" sz="1500" b="1" dirty="0">
                          <a:latin typeface="Times New Roman" panose="02020603050405020304" pitchFamily="18" charset="0"/>
                          <a:cs typeface="Times New Roman" panose="02020603050405020304" pitchFamily="18" charset="0"/>
                        </a:rPr>
                        <a:t>Python &amp; Flask</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a:latin typeface="Times New Roman" panose="02020603050405020304" pitchFamily="18" charset="0"/>
                          <a:cs typeface="Times New Roman" panose="02020603050405020304" pitchFamily="18" charset="0"/>
                        </a:rPr>
                        <a:t>Hosts the machine learning forecasting service.</a:t>
                      </a:r>
                    </a:p>
                  </a:txBody>
                  <a:tcPr marL="58506" marR="58506" marT="29253" marB="29253" anchor="ctr"/>
                </a:tc>
                <a:extLst>
                  <a:ext uri="{0D108BD9-81ED-4DB2-BD59-A6C34878D82A}">
                    <a16:rowId xmlns:a16="http://schemas.microsoft.com/office/drawing/2014/main" val="3745491187"/>
                  </a:ext>
                </a:extLst>
              </a:tr>
              <a:tr h="560441">
                <a:tc>
                  <a:txBody>
                    <a:bodyPr/>
                    <a:lstStyle/>
                    <a:p>
                      <a:pPr algn="ctr">
                        <a:buNone/>
                      </a:pPr>
                      <a:r>
                        <a:rPr lang="en-IN" sz="1500" b="1" dirty="0">
                          <a:latin typeface="Times New Roman" panose="02020603050405020304" pitchFamily="18" charset="0"/>
                          <a:cs typeface="Times New Roman" panose="02020603050405020304" pitchFamily="18" charset="0"/>
                        </a:rPr>
                        <a:t>Pandas &amp; NumPy</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a:latin typeface="Times New Roman" panose="02020603050405020304" pitchFamily="18" charset="0"/>
                          <a:cs typeface="Times New Roman" panose="02020603050405020304" pitchFamily="18" charset="0"/>
                        </a:rPr>
                        <a:t>Process and analyze historical complaint data.</a:t>
                      </a:r>
                    </a:p>
                  </a:txBody>
                  <a:tcPr marL="58506" marR="58506" marT="29253" marB="29253" anchor="ctr"/>
                </a:tc>
                <a:extLst>
                  <a:ext uri="{0D108BD9-81ED-4DB2-BD59-A6C34878D82A}">
                    <a16:rowId xmlns:a16="http://schemas.microsoft.com/office/drawing/2014/main" val="375962916"/>
                  </a:ext>
                </a:extLst>
              </a:tr>
              <a:tr h="560441">
                <a:tc>
                  <a:txBody>
                    <a:bodyPr/>
                    <a:lstStyle/>
                    <a:p>
                      <a:pPr algn="ctr">
                        <a:buNone/>
                      </a:pPr>
                      <a:r>
                        <a:rPr lang="en-IN" sz="1500" b="1">
                          <a:latin typeface="Times New Roman" panose="02020603050405020304" pitchFamily="18" charset="0"/>
                          <a:cs typeface="Times New Roman" panose="02020603050405020304" pitchFamily="18" charset="0"/>
                        </a:rPr>
                        <a:t>Facebook Prophet</a:t>
                      </a:r>
                      <a:endParaRPr lang="en-IN" sz="150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dirty="0">
                          <a:latin typeface="Times New Roman" panose="02020603050405020304" pitchFamily="18" charset="0"/>
                          <a:cs typeface="Times New Roman" panose="02020603050405020304" pitchFamily="18" charset="0"/>
                        </a:rPr>
                        <a:t>Predicts future complaint trends using time-series forecasting.</a:t>
                      </a:r>
                    </a:p>
                  </a:txBody>
                  <a:tcPr marL="58506" marR="58506" marT="29253" marB="29253" anchor="ctr"/>
                </a:tc>
                <a:extLst>
                  <a:ext uri="{0D108BD9-81ED-4DB2-BD59-A6C34878D82A}">
                    <a16:rowId xmlns:a16="http://schemas.microsoft.com/office/drawing/2014/main" val="4147941539"/>
                  </a:ext>
                </a:extLst>
              </a:tr>
              <a:tr h="560441">
                <a:tc>
                  <a:txBody>
                    <a:bodyPr/>
                    <a:lstStyle/>
                    <a:p>
                      <a:pPr algn="ctr">
                        <a:buNone/>
                      </a:pPr>
                      <a:r>
                        <a:rPr lang="en-US" sz="1500" b="1" dirty="0">
                          <a:latin typeface="Times New Roman" panose="02020603050405020304" pitchFamily="18" charset="0"/>
                          <a:cs typeface="Times New Roman" panose="02020603050405020304" pitchFamily="18" charset="0"/>
                        </a:rPr>
                        <a:t>G</a:t>
                      </a:r>
                      <a:r>
                        <a:rPr lang="en-IN" sz="1500" b="1" dirty="0">
                          <a:latin typeface="Times New Roman" panose="02020603050405020304" pitchFamily="18" charset="0"/>
                          <a:cs typeface="Times New Roman" panose="02020603050405020304" pitchFamily="18" charset="0"/>
                        </a:rPr>
                        <a:t>emini</a:t>
                      </a:r>
                      <a:endParaRPr lang="en-IN" sz="1500" dirty="0">
                        <a:latin typeface="Times New Roman" panose="02020603050405020304" pitchFamily="18" charset="0"/>
                        <a:cs typeface="Times New Roman" panose="02020603050405020304" pitchFamily="18" charset="0"/>
                      </a:endParaRPr>
                    </a:p>
                  </a:txBody>
                  <a:tcPr marL="58506" marR="58506" marT="29253" marB="29253" anchor="ctr"/>
                </a:tc>
                <a:tc>
                  <a:txBody>
                    <a:bodyPr/>
                    <a:lstStyle/>
                    <a:p>
                      <a:pPr>
                        <a:buNone/>
                      </a:pPr>
                      <a:r>
                        <a:rPr lang="en-IN" sz="1500" dirty="0">
                          <a:latin typeface="Times New Roman" panose="02020603050405020304" pitchFamily="18" charset="0"/>
                          <a:cs typeface="Times New Roman" panose="02020603050405020304" pitchFamily="18" charset="0"/>
                        </a:rPr>
                        <a:t>Powers the AI chatbot for citizen assistance and query handling.</a:t>
                      </a:r>
                    </a:p>
                  </a:txBody>
                  <a:tcPr marL="58506" marR="58506" marT="29253" marB="29253" anchor="ctr"/>
                </a:tc>
                <a:extLst>
                  <a:ext uri="{0D108BD9-81ED-4DB2-BD59-A6C34878D82A}">
                    <a16:rowId xmlns:a16="http://schemas.microsoft.com/office/drawing/2014/main" val="610214371"/>
                  </a:ext>
                </a:extLst>
              </a:tr>
            </a:tbl>
          </a:graphicData>
        </a:graphic>
      </p:graphicFrame>
    </p:spTree>
    <p:extLst>
      <p:ext uri="{BB962C8B-B14F-4D97-AF65-F5344CB8AC3E}">
        <p14:creationId xmlns:p14="http://schemas.microsoft.com/office/powerpoint/2010/main" val="2222815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B05E-18D8-E594-A5F4-7D392AA3AF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0C4A84-C923-1CF6-3EF3-155A1C4078F1}"/>
              </a:ext>
            </a:extLst>
          </p:cNvPr>
          <p:cNvSpPr>
            <a:spLocks noGrp="1"/>
          </p:cNvSpPr>
          <p:nvPr>
            <p:ph/>
          </p:nvPr>
        </p:nvSpPr>
        <p:spPr>
          <a:xfrm>
            <a:off x="695400" y="1052736"/>
            <a:ext cx="11090448" cy="5688632"/>
          </a:xfrm>
        </p:spPr>
        <p:txBody>
          <a:bodyPr>
            <a:noAutofit/>
          </a:bodyPr>
          <a:lstStyle/>
          <a:p>
            <a:pPr algn="just"/>
            <a:r>
              <a:rPr lang="en-IN" sz="1500" b="1" dirty="0">
                <a:latin typeface="Times New Roman" panose="02020603050405020304" pitchFamily="18" charset="0"/>
                <a:cs typeface="Times New Roman" panose="02020603050405020304" pitchFamily="18" charset="0"/>
              </a:rPr>
              <a:t>Advanced Features Implemented</a:t>
            </a:r>
          </a:p>
          <a:p>
            <a:pPr algn="just"/>
            <a:r>
              <a:rPr lang="en-IN" sz="1500" b="1" dirty="0">
                <a:latin typeface="Times New Roman" panose="02020603050405020304" pitchFamily="18" charset="0"/>
                <a:cs typeface="Times New Roman" panose="02020603050405020304" pitchFamily="18" charset="0"/>
              </a:rPr>
              <a:t>Geolocation &amp; Interactive Mapping</a:t>
            </a:r>
          </a:p>
          <a:p>
            <a:pPr algn="just"/>
            <a:r>
              <a:rPr lang="en-IN" sz="1500" b="1" dirty="0">
                <a:latin typeface="Times New Roman" panose="02020603050405020304" pitchFamily="18" charset="0"/>
                <a:cs typeface="Times New Roman" panose="02020603050405020304" pitchFamily="18" charset="0"/>
              </a:rPr>
              <a:t>Functionality</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Browser Geolocation API captures coordinates.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Complaints displayed on map using React Leaflet.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Helps identify issue hotspots. </a:t>
            </a:r>
          </a:p>
          <a:p>
            <a:pPr algn="just"/>
            <a:r>
              <a:rPr lang="en-IN" sz="1500" b="1" dirty="0">
                <a:latin typeface="Times New Roman" panose="02020603050405020304" pitchFamily="18" charset="0"/>
                <a:cs typeface="Times New Roman" panose="02020603050405020304" pitchFamily="18" charset="0"/>
              </a:rPr>
              <a:t>Machine Learning Forecasting</a:t>
            </a:r>
          </a:p>
          <a:p>
            <a:pPr algn="just"/>
            <a:r>
              <a:rPr lang="en-IN" sz="1500" b="1" dirty="0">
                <a:latin typeface="Times New Roman" panose="02020603050405020304" pitchFamily="18" charset="0"/>
                <a:cs typeface="Times New Roman" panose="02020603050405020304" pitchFamily="18" charset="0"/>
              </a:rPr>
              <a:t>Workflow</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Historical complaint data collected.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Data processed using Pandas.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Prophet model trained.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Future complaint trends predicted.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Results displayed using Recharts. </a:t>
            </a:r>
          </a:p>
          <a:p>
            <a:pPr algn="just"/>
            <a:r>
              <a:rPr lang="en-IN" sz="1500" b="1" dirty="0">
                <a:latin typeface="Times New Roman" panose="02020603050405020304" pitchFamily="18" charset="0"/>
                <a:cs typeface="Times New Roman" panose="02020603050405020304" pitchFamily="18" charset="0"/>
              </a:rPr>
              <a:t>Benefits</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Predict future issue volumes.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Better resource planning. </a:t>
            </a:r>
          </a:p>
          <a:p>
            <a:pPr marL="742950" indent="-285750" algn="just">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Proactive governance. </a:t>
            </a:r>
          </a:p>
          <a:p>
            <a:pPr algn="just"/>
            <a:endParaRPr lang="en-IN" sz="15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432F65D-42B6-E32A-149E-FEBE49DDFF3A}"/>
              </a:ext>
            </a:extLst>
          </p:cNvPr>
          <p:cNvSpPr txBox="1"/>
          <p:nvPr/>
        </p:nvSpPr>
        <p:spPr>
          <a:xfrm>
            <a:off x="6247599" y="1340768"/>
            <a:ext cx="4736006" cy="2446824"/>
          </a:xfrm>
          <a:prstGeom prst="rect">
            <a:avLst/>
          </a:prstGeom>
          <a:noFill/>
        </p:spPr>
        <p:txBody>
          <a:bodyPr wrap="square">
            <a:spAutoFit/>
          </a:bodyPr>
          <a:lstStyle/>
          <a:p>
            <a:pPr algn="just">
              <a:lnSpc>
                <a:spcPct val="150000"/>
              </a:lnSpc>
            </a:pPr>
            <a:r>
              <a:rPr lang="en-IN" sz="1500" b="1" dirty="0">
                <a:latin typeface="Times New Roman" panose="02020603050405020304" pitchFamily="18" charset="0"/>
                <a:cs typeface="Times New Roman" panose="02020603050405020304" pitchFamily="18" charset="0"/>
              </a:rPr>
              <a:t>Duplicate Complaint Functionality</a:t>
            </a:r>
          </a:p>
          <a:p>
            <a:pPr algn="just">
              <a:lnSpc>
                <a:spcPct val="150000"/>
              </a:lnSpc>
            </a:pPr>
            <a:r>
              <a:rPr lang="en-IN" sz="1500" b="1" dirty="0">
                <a:latin typeface="Times New Roman" panose="02020603050405020304" pitchFamily="18" charset="0"/>
                <a:cs typeface="Times New Roman" panose="02020603050405020304" pitchFamily="18" charset="0"/>
              </a:rPr>
              <a:t>Workflow</a:t>
            </a:r>
          </a:p>
          <a:p>
            <a:pPr marL="285750" indent="-285750" algn="just">
              <a:lnSpc>
                <a:spcPct val="150000"/>
              </a:lnSpc>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Detects nearby similar complaints. </a:t>
            </a:r>
          </a:p>
          <a:p>
            <a:pPr marL="285750" indent="-285750" algn="just">
              <a:lnSpc>
                <a:spcPct val="150000"/>
              </a:lnSpc>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Groups them into Incident Groups. </a:t>
            </a:r>
          </a:p>
          <a:p>
            <a:pPr marL="285750" indent="-285750" algn="just">
              <a:lnSpc>
                <a:spcPct val="150000"/>
              </a:lnSpc>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Prevents duplicate work and resource wastage</a:t>
            </a:r>
            <a:r>
              <a:rPr lang="en-IN" dirty="0">
                <a:latin typeface="Times New Roman" panose="02020603050405020304" pitchFamily="18" charset="0"/>
                <a:cs typeface="Times New Roman" panose="02020603050405020304" pitchFamily="18" charset="0"/>
              </a:rPr>
              <a:t>.</a:t>
            </a:r>
          </a:p>
          <a:p>
            <a:pPr algn="just"/>
            <a:endParaRPr lang="en-US" b="1"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20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608E6-A3BC-6FF5-E614-B5BCAED9A2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D95482-F16C-49B1-79AC-2D9F90EC6334}"/>
              </a:ext>
            </a:extLst>
          </p:cNvPr>
          <p:cNvSpPr>
            <a:spLocks noGrp="1"/>
          </p:cNvSpPr>
          <p:nvPr>
            <p:ph/>
          </p:nvPr>
        </p:nvSpPr>
        <p:spPr>
          <a:xfrm>
            <a:off x="695400" y="1124744"/>
            <a:ext cx="11090448" cy="5506070"/>
          </a:xfrm>
        </p:spPr>
        <p:txBody>
          <a:bodyPr>
            <a:noAutofit/>
          </a:bodyPr>
          <a:lstStyle/>
          <a:p>
            <a:r>
              <a:rPr lang="en-US" sz="1800" b="1" dirty="0">
                <a:latin typeface="Times New Roman" panose="02020603050405020304" pitchFamily="18" charset="0"/>
                <a:cs typeface="Times New Roman" panose="02020603050405020304" pitchFamily="18" charset="0"/>
              </a:rPr>
              <a:t>Conclusion</a:t>
            </a:r>
          </a:p>
          <a:p>
            <a:pPr algn="just">
              <a:lnSpc>
                <a:spcPct val="110000"/>
              </a:lnSpc>
            </a:pPr>
            <a:r>
              <a:rPr lang="en-US" sz="1600" dirty="0">
                <a:latin typeface="Times New Roman" panose="02020603050405020304" pitchFamily="18" charset="0"/>
                <a:cs typeface="Times New Roman" panose="02020603050405020304" pitchFamily="18" charset="0"/>
              </a:rPr>
              <a:t>The Smart Civic Issue Reporting and Resolution System is designed to modernize the civic complaint management process through digital technology.</a:t>
            </a:r>
          </a:p>
          <a:p>
            <a:pPr algn="just">
              <a:lnSpc>
                <a:spcPct val="110000"/>
              </a:lnSpc>
            </a:pPr>
            <a:r>
              <a:rPr lang="en-US" sz="1600" dirty="0">
                <a:latin typeface="Times New Roman" panose="02020603050405020304" pitchFamily="18" charset="0"/>
                <a:cs typeface="Times New Roman" panose="02020603050405020304" pitchFamily="18" charset="0"/>
              </a:rPr>
              <a:t>The project creates a direct connection between citizens, administrators, departments, and workers, ensuring:</a:t>
            </a:r>
          </a:p>
          <a:p>
            <a:pPr marL="800100" indent="-342900">
              <a:lnSpc>
                <a:spcPct val="11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Faster complaint handling </a:t>
            </a:r>
          </a:p>
          <a:p>
            <a:pPr marL="800100" indent="-342900">
              <a:lnSpc>
                <a:spcPct val="11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Better transparency </a:t>
            </a:r>
          </a:p>
          <a:p>
            <a:pPr marL="800100" indent="-342900">
              <a:lnSpc>
                <a:spcPct val="11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Efficient worker allocation </a:t>
            </a:r>
          </a:p>
          <a:p>
            <a:pPr marL="800100" indent="-342900">
              <a:lnSpc>
                <a:spcPct val="11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city management </a:t>
            </a:r>
          </a:p>
          <a:p>
            <a:pPr algn="just">
              <a:lnSpc>
                <a:spcPct val="110000"/>
              </a:lnSpc>
            </a:pPr>
            <a:r>
              <a:rPr lang="en-US" sz="1600" dirty="0">
                <a:latin typeface="Times New Roman" panose="02020603050405020304" pitchFamily="18" charset="0"/>
                <a:cs typeface="Times New Roman" panose="02020603050405020304" pitchFamily="18" charset="0"/>
              </a:rPr>
              <a:t>This system supports the vision of smart cities by making civic governance more responsive, organized, and technology-driven.</a:t>
            </a:r>
          </a:p>
          <a:p>
            <a:pPr algn="just"/>
            <a:endParaRPr lang="en-US"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598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F33BFC1-E872-B426-E092-CCF47C3035E7}"/>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a:xfrm>
            <a:off x="2957513" y="1562465"/>
            <a:ext cx="6337300" cy="4529995"/>
          </a:xfrm>
          <a:prstGeom prst="rect">
            <a:avLst/>
          </a:prstGeom>
        </p:spPr>
      </p:pic>
    </p:spTree>
    <p:extLst>
      <p:ext uri="{BB962C8B-B14F-4D97-AF65-F5344CB8AC3E}">
        <p14:creationId xmlns:p14="http://schemas.microsoft.com/office/powerpoint/2010/main" val="3071619500"/>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669</Words>
  <Application>Microsoft Office PowerPoint</Application>
  <PresentationFormat>Widescreen</PresentationFormat>
  <Paragraphs>110</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Bookman Old Style</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Bakht Singh Pepakayala</dc:creator>
  <cp:lastModifiedBy>Bakht Singh Pepakayala</cp:lastModifiedBy>
  <cp:revision>24</cp:revision>
  <dcterms:created xsi:type="dcterms:W3CDTF">2025-05-29T13:02:32Z</dcterms:created>
  <dcterms:modified xsi:type="dcterms:W3CDTF">2026-06-23T06:14:45Z</dcterms:modified>
</cp:coreProperties>
</file>