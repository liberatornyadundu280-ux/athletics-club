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62" r:id="rId4"/>
    <p:sldId id="272" r:id="rId5"/>
    <p:sldId id="270" r:id="rId6"/>
    <p:sldId id="274" r:id="rId7"/>
    <p:sldId id="275" r:id="rId8"/>
    <p:sldId id="277" r:id="rId9"/>
    <p:sldId id="276" r:id="rId10"/>
  </p:sldIdLst>
  <p:sldSz cx="12192000" cy="6858000"/>
  <p:notesSz cx="12192000" cy="6858000"/>
  <p:embeddedFontLst>
    <p:embeddedFont>
      <p:font typeface="Bookman Old Style" panose="02050604050505020204" pitchFamily="18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5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30F4214F-3E4E-4B8B-8AC2-BF59D50B2C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7D129387-9967-4C73-939D-69EF041DFD9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DCE28B6-DBFE-4620-B95B-46D05A4EFA88}" type="datetime1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pic>
        <p:nvPicPr>
          <p:cNvPr id="5" name="Picture 2">
            <a:extLst>
              <a:ext uri="{DAD87817-DB1B-4DE8-BD41-41BB3E99A7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rPr/>
              <a:pPr/>
              <a:t>‹#›</a:t>
            </a:fld>
            <a:endParaRPr lang="en-US" dirty="0"/>
          </a:p>
        </p:txBody>
      </p:sp>
    </p:spTree>
    <p:extLst>
      <p:ext uri="{E791D5F0-FCE4-45B8-828D-F7D7E855498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B13D2877-58CC-4844-975B-B8D6496C43E9}" type="datetime1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sp>
        <p:nvSpPr>
          <p:cNvPr id="5" name="Slide Number Placeholder 3">
            <a:extLst>
              <a:ext uri="{A59E037D-D639-4F65-9477-94A0EBCDC4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rPr/>
              <a:pPr/>
              <a:t>‹#›</a:t>
            </a:fld>
            <a:endParaRPr lang="en-US" dirty="0"/>
          </a:p>
        </p:txBody>
      </p:sp>
    </p:spTree>
    <p:extLst>
      <p:ext uri="{917857EF-1D39-4225-A829-037EB1D2793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23D07-B41D-4865-9117-A59235B241FC}" type="datetime1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DL&amp;CO                                                                G.LAVARAJU, Associate Professor, CSE</a:t>
            </a:r>
          </a:p>
        </p:txBody>
      </p:sp>
      <p:sp>
        <p:nvSpPr>
          <p:cNvPr id="6" name="Slide Number Placeholder 5">
            <a:extLst>
              <a:ext uri="{35F2950A-B1CB-4727-AB58-367C2C82CE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rPr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Bookman Old Style" pitchFamily="18" charset="0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40DA9-F832-465D-86DE-FEB6803F3756}"/>
              </a:ext>
            </a:extLst>
          </p:cNvPr>
          <p:cNvSpPr txBox="1"/>
          <p:nvPr/>
        </p:nvSpPr>
        <p:spPr>
          <a:xfrm>
            <a:off x="1490308" y="1433299"/>
            <a:ext cx="1069661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70C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In-House Internship 2.0 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70C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(04</a:t>
            </a:r>
            <a:r>
              <a:rPr lang="en-GB" sz="3200" baseline="30000" dirty="0">
                <a:solidFill>
                  <a:srgbClr val="0070C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th</a:t>
            </a:r>
            <a:r>
              <a:rPr lang="en-GB" sz="3200" dirty="0">
                <a:solidFill>
                  <a:srgbClr val="0070C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 May – 25</a:t>
            </a:r>
            <a:r>
              <a:rPr lang="en-GB" sz="3200" baseline="30000" dirty="0">
                <a:solidFill>
                  <a:srgbClr val="0070C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th</a:t>
            </a:r>
            <a:r>
              <a:rPr lang="en-GB" sz="3200" dirty="0">
                <a:solidFill>
                  <a:srgbClr val="0070C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 June 2026)</a:t>
            </a:r>
          </a:p>
        </p:txBody>
      </p:sp>
      <p:sp>
        <p:nvSpPr>
          <p:cNvPr id="5" name="Title 1">
            <a:extLst>
              <a:ext uri="{20663F85-F48B-43E1-96BA-3B1BE53937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82DE41-6288-42A5-A437-B3C890B5FD67}"/>
              </a:ext>
            </a:extLst>
          </p:cNvPr>
          <p:cNvSpPr txBox="1"/>
          <p:nvPr/>
        </p:nvSpPr>
        <p:spPr>
          <a:xfrm>
            <a:off x="1127448" y="2435342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C0000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Review-2</a:t>
            </a:r>
            <a:endParaRPr lang="en-US" sz="4000" dirty="0">
              <a:solidFill>
                <a:srgbClr val="C00000"/>
              </a:solidFill>
              <a:latin typeface="Bookman Old Style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97F756-CC06-B299-9F26-7E8B254D5996}"/>
              </a:ext>
              <a:ext uri="{20663F85-F48B-43E1-96BA-3B1BE53937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82DE41-6288-42A5-A437-B3C890B5FD67}"/>
              </a:ext>
            </a:extLst>
          </p:cNvPr>
          <p:cNvSpPr txBox="1"/>
          <p:nvPr/>
        </p:nvSpPr>
        <p:spPr>
          <a:xfrm>
            <a:off x="1035775" y="3995309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400" dirty="0">
                <a:solidFill>
                  <a:srgbClr val="C0000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Title: Smart Civic Issue Reporting and Resolution System for Smart Cities. </a:t>
            </a:r>
            <a:endParaRPr lang="en-US" sz="2400" dirty="0">
              <a:solidFill>
                <a:srgbClr val="C00000"/>
              </a:solidFill>
              <a:latin typeface="Bookman Old Style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413A39-CC5B-41A8-0597-7A72CEFDEA3A}"/>
              </a:ext>
              <a:ext uri="{20663F85-F48B-43E1-96BA-3B1BE53937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82DE41-6288-42A5-A437-B3C890B5FD67}"/>
              </a:ext>
            </a:extLst>
          </p:cNvPr>
          <p:cNvSpPr txBox="1"/>
          <p:nvPr/>
        </p:nvSpPr>
        <p:spPr>
          <a:xfrm>
            <a:off x="1132305" y="4898887"/>
            <a:ext cx="3535680" cy="1944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285750" lvl="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  <a:t>Dr. K. Chandra Sekhar,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  <a:t>     Associate Professor, 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  <a:t>     Department of CSE.(Guide)</a:t>
            </a:r>
          </a:p>
          <a:p>
            <a:pPr marL="285750" lvl="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Bookman Old Style" pitchFamily="18" charset="0"/>
            </a:endParaRPr>
          </a:p>
          <a:p>
            <a:pPr marL="285750" lvl="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C00000"/>
                </a:solidFill>
                <a:latin typeface="Bookman Old Style" pitchFamily="18" charset="0"/>
              </a:rPr>
              <a:t>Mrs.Lakshmi</a:t>
            </a:r>
            <a: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  <a:t> Kranti G,</a:t>
            </a:r>
            <a:b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</a:br>
            <a: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  <a:t>Assistant Professor,</a:t>
            </a:r>
            <a:b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</a:br>
            <a: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  <a:t>Department of CSE.(Co-Guide)</a:t>
            </a:r>
            <a:br>
              <a:rPr lang="en-US" sz="1600" dirty="0">
                <a:solidFill>
                  <a:srgbClr val="C00000"/>
                </a:solidFill>
                <a:latin typeface="Bookman Old Style" pitchFamily="18" charset="0"/>
              </a:rPr>
            </a:br>
            <a:endParaRPr lang="en-US" sz="1600" dirty="0">
              <a:solidFill>
                <a:srgbClr val="C00000"/>
              </a:solidFill>
              <a:latin typeface="Bookman Old Style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EEEA07B-DFD6-4C8C-E408-7F059A3848EE}"/>
              </a:ext>
              <a:ext uri="{20663F85-F48B-43E1-96BA-3B1BE53937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82DE41-6288-42A5-A437-B3C890B5FD67}"/>
              </a:ext>
            </a:extLst>
          </p:cNvPr>
          <p:cNvSpPr txBox="1"/>
          <p:nvPr/>
        </p:nvSpPr>
        <p:spPr>
          <a:xfrm>
            <a:off x="7543800" y="5486400"/>
            <a:ext cx="4495800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285750" lvl="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C0000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P.Bakht</a:t>
            </a:r>
            <a:r>
              <a:rPr lang="en-GB" sz="1600" dirty="0">
                <a:solidFill>
                  <a:srgbClr val="C0000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 Singh – 24B11CS343 – CSE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C0000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Never </a:t>
            </a:r>
            <a:r>
              <a:rPr lang="en-GB" sz="1600" dirty="0" err="1">
                <a:solidFill>
                  <a:srgbClr val="C0000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Junior.K</a:t>
            </a:r>
            <a:r>
              <a:rPr lang="en-GB" sz="1600" dirty="0">
                <a:solidFill>
                  <a:srgbClr val="C0000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 –24B11CS547- CSE</a:t>
            </a:r>
            <a:endParaRPr lang="en-US" sz="1600" dirty="0">
              <a:solidFill>
                <a:srgbClr val="C00000"/>
              </a:solidFill>
              <a:latin typeface="Bookman Old Style" pitchFamily="18" charset="0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C0000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Budwell K.N – 24B11CS511 - CSE</a:t>
            </a:r>
            <a:endParaRPr lang="en-US" sz="1600" dirty="0">
              <a:solidFill>
                <a:srgbClr val="C00000"/>
              </a:solidFill>
              <a:latin typeface="Bookman Old Style" pitchFamily="18" charset="0"/>
            </a:endParaRPr>
          </a:p>
          <a:p>
            <a:pPr marL="285750" lvl="0" indent="-28575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Bookman Old Style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EAFF15-9962-E37C-B7F1-96FCE63540D3}"/>
              </a:ext>
              <a:ext uri="{64856C8F-7DB4-4507-9010-97CF4AE55C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40DA9-F832-465D-86DE-FEB6803F3756}"/>
              </a:ext>
            </a:extLst>
          </p:cNvPr>
          <p:cNvSpPr txBox="1"/>
          <p:nvPr/>
        </p:nvSpPr>
        <p:spPr>
          <a:xfrm>
            <a:off x="1490308" y="3258921"/>
            <a:ext cx="10696612" cy="685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2800" dirty="0">
                <a:solidFill>
                  <a:srgbClr val="0070C0"/>
                </a:solidFill>
                <a:latin typeface="Bookman Old Style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Department of Computer Science and Engineering</a:t>
            </a:r>
          </a:p>
        </p:txBody>
      </p:sp>
    </p:spTree>
    <p:extLst>
      <p:ext uri="{59DB2955-81A9-4330-9517-4CB607EFC6F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5C6C-02DB-1C4E-5853-CD4EF8E3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C27362-CAFC-5A24-E246-1935B32D148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67408" y="1196752"/>
            <a:ext cx="11017224" cy="5616624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1600" b="1" dirty="0"/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digital platform where citizens can report civic issues, track complaint status, and receive updates while enabling municipal authorities to efficiently manage and resolve complaints.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Complaint Registration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 Support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Tracking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Issue Management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Complaint Forecasting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AI Chatbot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 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– Reports civic issues, uploads evidence, tracks complaint status, and receives updates.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– Monitors all complaints, manages departments, and oversees system operations.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Officer – Reviews assigned complaints and allocates tasks to field workers.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– Resolves assigned issues and updates the complaint progress/status.</a:t>
            </a:r>
          </a:p>
          <a:p>
            <a:pPr algn="just"/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6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A7E3D3-C3C8-3EC1-5FD2-07E2A3DD8294}"/>
              </a:ext>
            </a:extLst>
          </p:cNvPr>
          <p:cNvSpPr txBox="1"/>
          <p:nvPr/>
        </p:nvSpPr>
        <p:spPr>
          <a:xfrm>
            <a:off x="911424" y="1268760"/>
            <a:ext cx="103691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Lifecycle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Step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Citizen submits complaint with image and location.</a:t>
            </a:r>
          </a:p>
          <a:p>
            <a:r>
              <a:rPr lang="en-IN" b="1" dirty="0"/>
              <a:t>Step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Complaint stored in MongoDB.</a:t>
            </a:r>
          </a:p>
          <a:p>
            <a:r>
              <a:rPr lang="en-IN" b="1" dirty="0"/>
              <a:t>Step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Admin reviews complaint.</a:t>
            </a:r>
          </a:p>
          <a:p>
            <a:r>
              <a:rPr lang="en-IN" b="1" dirty="0"/>
              <a:t>Step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Complaint assigned to department officer.</a:t>
            </a:r>
          </a:p>
          <a:p>
            <a:r>
              <a:rPr lang="en-IN" b="1" dirty="0"/>
              <a:t>Step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Officer assigns worker.</a:t>
            </a:r>
          </a:p>
          <a:p>
            <a:r>
              <a:rPr lang="en-IN" b="1" dirty="0"/>
              <a:t>Step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Worker updates progress.</a:t>
            </a:r>
          </a:p>
          <a:p>
            <a:r>
              <a:rPr lang="en-IN" b="1" dirty="0"/>
              <a:t>Step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Citizen receives email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2971288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D975-1F93-00D3-8C46-42D501D5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164355F-A9DD-3308-3723-25F1A4BB9A55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1124744"/>
            <a:ext cx="10063030" cy="554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5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A97B3-5F89-CD6F-0A10-10816C66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D6425E-693B-6F76-595A-80A801718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528721"/>
              </p:ext>
            </p:extLst>
          </p:nvPr>
        </p:nvGraphicFramePr>
        <p:xfrm>
          <a:off x="1487488" y="1196752"/>
          <a:ext cx="9781708" cy="532026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957172">
                  <a:extLst>
                    <a:ext uri="{9D8B030D-6E8A-4147-A177-3AD203B41FA5}">
                      <a16:colId xmlns:a16="http://schemas.microsoft.com/office/drawing/2014/main" val="319745867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4066161645"/>
                    </a:ext>
                  </a:extLst>
                </a:gridCol>
              </a:tblGrid>
              <a:tr h="26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/>
                        <a:t>Technology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/>
                        <a:t>Purpose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809068155"/>
                  </a:ext>
                </a:extLst>
              </a:tr>
              <a:tr h="26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 dirty="0"/>
                        <a:t>React.js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Builds the interactive and responsive user interface.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408727601"/>
                  </a:ext>
                </a:extLst>
              </a:tr>
              <a:tr h="4916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 dirty="0"/>
                        <a:t>React Router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Enables navigation between pages without reloading the application.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851095829"/>
                  </a:ext>
                </a:extLst>
              </a:tr>
              <a:tr h="4916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 dirty="0"/>
                        <a:t>Axios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Handles communication between frontend and backend APIs.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912830126"/>
                  </a:ext>
                </a:extLst>
              </a:tr>
              <a:tr h="26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/>
                        <a:t>React Leaflet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Displays complaint locations on an interactive map.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075704633"/>
                  </a:ext>
                </a:extLst>
              </a:tr>
              <a:tr h="4916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 dirty="0"/>
                        <a:t>Recharts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Visualizes complaint statistics and forecasting results through charts.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4096443512"/>
                  </a:ext>
                </a:extLst>
              </a:tr>
              <a:tr h="4916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 dirty="0"/>
                        <a:t>Node.js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Provides the server-side runtime environment for backend development.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424940697"/>
                  </a:ext>
                </a:extLst>
              </a:tr>
              <a:tr h="26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/>
                        <a:t>Express.js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Creates REST APIs and manages business logic.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791206729"/>
                  </a:ext>
                </a:extLst>
              </a:tr>
              <a:tr h="380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/>
                        <a:t>JWT Authentication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/>
                        <a:t>Secures the system by verifying user identity and roles.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09987697"/>
                  </a:ext>
                </a:extLst>
              </a:tr>
              <a:tr h="4916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500" b="1" dirty="0"/>
                        <a:t>bcrypt.js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500" dirty="0"/>
                        <a:t>Encrypts user passwords before storing them in the database.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531818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95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8C267-993F-BBF5-412F-784B502E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5A27884-99E0-9D22-14CB-65799CD24E0B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053616546"/>
              </p:ext>
            </p:extLst>
          </p:nvPr>
        </p:nvGraphicFramePr>
        <p:xfrm>
          <a:off x="2135560" y="1412776"/>
          <a:ext cx="8496944" cy="482453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3356408808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472246132"/>
                    </a:ext>
                  </a:extLst>
                </a:gridCol>
              </a:tblGrid>
              <a:tr h="34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Technology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Purpose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2106120501"/>
                  </a:ext>
                </a:extLst>
              </a:tr>
              <a:tr h="560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Multer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Handles image uploads attached to complaints.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1560093770"/>
                  </a:ext>
                </a:extLst>
              </a:tr>
              <a:tr h="560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Nodemailer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Sends automated email notifications to users.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2445763640"/>
                  </a:ext>
                </a:extLst>
              </a:tr>
              <a:tr h="560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MongoDB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Stores all complaint, user, and system data.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2114614443"/>
                  </a:ext>
                </a:extLst>
              </a:tr>
              <a:tr h="560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Mongoose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Provides schema-based interaction with MongoDB.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3619678663"/>
                  </a:ext>
                </a:extLst>
              </a:tr>
              <a:tr h="560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Python &amp; Flask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Hosts the machine learning forecasting service.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3745491187"/>
                  </a:ext>
                </a:extLst>
              </a:tr>
              <a:tr h="560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Pandas &amp; NumPy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Process and analyze historical complaint data.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375962916"/>
                  </a:ext>
                </a:extLst>
              </a:tr>
              <a:tr h="560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Facebook Prophet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Predicts future complaint trends using time-series forecasting.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4147941539"/>
                  </a:ext>
                </a:extLst>
              </a:tr>
              <a:tr h="560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Rasa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Powers the AI chatbot for citizen assistance and query handling.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506" marR="58506" marT="29253" marB="29253" anchor="ctr"/>
                </a:tc>
                <a:extLst>
                  <a:ext uri="{0D108BD9-81ED-4DB2-BD59-A6C34878D82A}">
                    <a16:rowId xmlns:a16="http://schemas.microsoft.com/office/drawing/2014/main" val="610214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815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B05E-18D8-E594-A5F4-7D392AA3A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0C4A84-C923-1CF6-3EF3-155A1C4078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95400" y="1052736"/>
            <a:ext cx="11090448" cy="5688632"/>
          </a:xfrm>
        </p:spPr>
        <p:txBody>
          <a:bodyPr>
            <a:noAutofit/>
          </a:bodyPr>
          <a:lstStyle/>
          <a:p>
            <a:pPr algn="just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 Implemented</a:t>
            </a:r>
          </a:p>
          <a:p>
            <a:pPr algn="just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Geolocation &amp; Interactive Mapping</a:t>
            </a:r>
          </a:p>
          <a:p>
            <a:pPr algn="just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Geolocation API captures coordinates.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displayed on map using React Leaflet.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issue hotspots. </a:t>
            </a:r>
          </a:p>
          <a:p>
            <a:pPr algn="just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Forecasting</a:t>
            </a:r>
          </a:p>
          <a:p>
            <a:pPr algn="just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complaint data collected.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processed using Pandas.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model trained.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complaint trends predicted.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displayed using Recharts. </a:t>
            </a:r>
          </a:p>
          <a:p>
            <a:pPr algn="just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issue volumes.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planning. </a:t>
            </a:r>
          </a:p>
          <a:p>
            <a:pPr marL="742950" indent="-285750" algn="just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governance. </a:t>
            </a:r>
          </a:p>
          <a:p>
            <a:pPr algn="just"/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2F65D-42B6-E32A-149E-FEBE49DDFF3A}"/>
              </a:ext>
            </a:extLst>
          </p:cNvPr>
          <p:cNvSpPr txBox="1"/>
          <p:nvPr/>
        </p:nvSpPr>
        <p:spPr>
          <a:xfrm>
            <a:off x="6247599" y="1340768"/>
            <a:ext cx="473600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Complaint Functionality</a:t>
            </a:r>
          </a:p>
          <a:p>
            <a:pPr algn="just"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nearby similar complaints.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them into Incident Groups.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work and resource wastage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08E6-A3BC-6FF5-E614-B5BCAED9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D95482-F16C-49B1-79AC-2D9F90EC633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95400" y="1124744"/>
            <a:ext cx="11090448" cy="550607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Civic Issue Reporting and Resolution System is designed to modernize the civic complaint management process through digital technology.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creates a direct connection between citizens, administrators, departments, and workers, ensuring:</a:t>
            </a:r>
          </a:p>
          <a:p>
            <a:pPr marL="8001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complaint handling </a:t>
            </a:r>
          </a:p>
          <a:p>
            <a:pPr marL="8001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transparency </a:t>
            </a:r>
          </a:p>
          <a:p>
            <a:pPr marL="8001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worker allocation </a:t>
            </a:r>
          </a:p>
          <a:p>
            <a:pPr marL="8001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city management 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supports the vision of smart cities by making civic governance more responsive, organized, and technology-driven.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59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33BFC1-E872-B426-E092-CCF47C3035E7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513" y="1562465"/>
            <a:ext cx="6337300" cy="452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19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597</Words>
  <Application>Microsoft Office PowerPoint</Application>
  <PresentationFormat>Widescreen</PresentationFormat>
  <Paragraphs>112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Bakht Singh Pepakayala</dc:creator>
  <cp:lastModifiedBy>Bakht Singh Pepakayala</cp:lastModifiedBy>
  <cp:revision>22</cp:revision>
  <dcterms:created xsi:type="dcterms:W3CDTF">2025-05-29T13:02:32Z</dcterms:created>
  <dcterms:modified xsi:type="dcterms:W3CDTF">2026-06-10T04:13:53Z</dcterms:modified>
</cp:coreProperties>
</file>